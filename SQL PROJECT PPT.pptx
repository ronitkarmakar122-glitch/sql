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09" r:id="rId1"/>
  </p:sldMasterIdLst>
  <p:notesMasterIdLst>
    <p:notesMasterId r:id="rId36"/>
  </p:notesMasterIdLst>
  <p:sldIdLst>
    <p:sldId id="257" r:id="rId2"/>
    <p:sldId id="271" r:id="rId3"/>
    <p:sldId id="25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4" r:id="rId19"/>
    <p:sldId id="273" r:id="rId20"/>
    <p:sldId id="277" r:id="rId21"/>
    <p:sldId id="275" r:id="rId22"/>
    <p:sldId id="276" r:id="rId23"/>
    <p:sldId id="278" r:id="rId24"/>
    <p:sldId id="279" r:id="rId25"/>
    <p:sldId id="281" r:id="rId26"/>
    <p:sldId id="280" r:id="rId27"/>
    <p:sldId id="282" r:id="rId28"/>
    <p:sldId id="286" r:id="rId29"/>
    <p:sldId id="283" r:id="rId30"/>
    <p:sldId id="284" r:id="rId31"/>
    <p:sldId id="287" r:id="rId32"/>
    <p:sldId id="285" r:id="rId33"/>
    <p:sldId id="289" r:id="rId34"/>
    <p:sldId id="288"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2024D3-1230-4C31-A0E0-E8942C741CB5}" v="88" dt="2026-08-05T13:45:36.7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37B712-8D94-491C-95BF-7502C8AFB69C}" type="datetimeFigureOut">
              <a:rPr lang="en-IN" smtClean="0"/>
              <a:t>07-09-2026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06F825-B67C-4A62-8EE9-190FAB89C9C8}" type="slidenum">
              <a:rPr lang="en-IN" smtClean="0"/>
              <a:t>‹#›</a:t>
            </a:fld>
            <a:endParaRPr lang="en-IN"/>
          </a:p>
        </p:txBody>
      </p:sp>
    </p:spTree>
    <p:extLst>
      <p:ext uri="{BB962C8B-B14F-4D97-AF65-F5344CB8AC3E}">
        <p14:creationId xmlns:p14="http://schemas.microsoft.com/office/powerpoint/2010/main" val="2543020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33A597-ADC8-48EE-BE13-0F280E91D60B}" type="datetimeFigureOut">
              <a:rPr lang="en-IN" smtClean="0"/>
              <a:t>07-09-2026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937EF-40FB-476F-8352-F8CFF707C1BB}" type="slidenum">
              <a:rPr lang="en-IN" smtClean="0"/>
              <a:t>‹#›</a:t>
            </a:fld>
            <a:endParaRPr lang="en-IN"/>
          </a:p>
        </p:txBody>
      </p:sp>
    </p:spTree>
    <p:extLst>
      <p:ext uri="{BB962C8B-B14F-4D97-AF65-F5344CB8AC3E}">
        <p14:creationId xmlns:p14="http://schemas.microsoft.com/office/powerpoint/2010/main" val="3226513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33A597-ADC8-48EE-BE13-0F280E91D60B}" type="datetimeFigureOut">
              <a:rPr lang="en-IN" smtClean="0"/>
              <a:t>07-09-2026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937EF-40FB-476F-8352-F8CFF707C1BB}" type="slidenum">
              <a:rPr lang="en-IN" smtClean="0"/>
              <a:t>‹#›</a:t>
            </a:fld>
            <a:endParaRPr lang="en-IN"/>
          </a:p>
        </p:txBody>
      </p:sp>
    </p:spTree>
    <p:extLst>
      <p:ext uri="{BB962C8B-B14F-4D97-AF65-F5344CB8AC3E}">
        <p14:creationId xmlns:p14="http://schemas.microsoft.com/office/powerpoint/2010/main" val="2202122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33A597-ADC8-48EE-BE13-0F280E91D60B}" type="datetimeFigureOut">
              <a:rPr lang="en-IN" smtClean="0"/>
              <a:t>07-09-2026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937EF-40FB-476F-8352-F8CFF707C1BB}" type="slidenum">
              <a:rPr lang="en-IN" smtClean="0"/>
              <a:t>‹#›</a:t>
            </a:fld>
            <a:endParaRPr lang="en-IN"/>
          </a:p>
        </p:txBody>
      </p:sp>
    </p:spTree>
    <p:extLst>
      <p:ext uri="{BB962C8B-B14F-4D97-AF65-F5344CB8AC3E}">
        <p14:creationId xmlns:p14="http://schemas.microsoft.com/office/powerpoint/2010/main" val="2576565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33A597-ADC8-48EE-BE13-0F280E91D60B}" type="datetimeFigureOut">
              <a:rPr lang="en-IN" smtClean="0"/>
              <a:t>07-09-2026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8937EF-40FB-476F-8352-F8CFF707C1BB}" type="slidenum">
              <a:rPr lang="en-IN" smtClean="0"/>
              <a:t>‹#›</a:t>
            </a:fld>
            <a:endParaRPr lang="en-IN"/>
          </a:p>
        </p:txBody>
      </p:sp>
    </p:spTree>
    <p:extLst>
      <p:ext uri="{BB962C8B-B14F-4D97-AF65-F5344CB8AC3E}">
        <p14:creationId xmlns:p14="http://schemas.microsoft.com/office/powerpoint/2010/main" val="236760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33A597-ADC8-48EE-BE13-0F280E91D60B}" type="datetimeFigureOut">
              <a:rPr lang="en-IN" smtClean="0"/>
              <a:t>07-09-2026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58937EF-40FB-476F-8352-F8CFF707C1BB}" type="slidenum">
              <a:rPr lang="en-IN" smtClean="0"/>
              <a:t>‹#›</a:t>
            </a:fld>
            <a:endParaRPr lang="en-IN"/>
          </a:p>
        </p:txBody>
      </p:sp>
    </p:spTree>
    <p:extLst>
      <p:ext uri="{BB962C8B-B14F-4D97-AF65-F5344CB8AC3E}">
        <p14:creationId xmlns:p14="http://schemas.microsoft.com/office/powerpoint/2010/main" val="3171352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33A597-ADC8-48EE-BE13-0F280E91D60B}" type="datetimeFigureOut">
              <a:rPr lang="en-IN" smtClean="0"/>
              <a:t>07-09-2026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58937EF-40FB-476F-8352-F8CFF707C1BB}" type="slidenum">
              <a:rPr lang="en-IN" smtClean="0"/>
              <a:t>‹#›</a:t>
            </a:fld>
            <a:endParaRPr lang="en-IN"/>
          </a:p>
        </p:txBody>
      </p:sp>
    </p:spTree>
    <p:extLst>
      <p:ext uri="{BB962C8B-B14F-4D97-AF65-F5344CB8AC3E}">
        <p14:creationId xmlns:p14="http://schemas.microsoft.com/office/powerpoint/2010/main" val="384089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33A597-ADC8-48EE-BE13-0F280E91D60B}" type="datetimeFigureOut">
              <a:rPr lang="en-IN" smtClean="0"/>
              <a:t>07-09-2026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58937EF-40FB-476F-8352-F8CFF707C1BB}" type="slidenum">
              <a:rPr lang="en-IN" smtClean="0"/>
              <a:t>‹#›</a:t>
            </a:fld>
            <a:endParaRPr lang="en-IN"/>
          </a:p>
        </p:txBody>
      </p:sp>
    </p:spTree>
    <p:extLst>
      <p:ext uri="{BB962C8B-B14F-4D97-AF65-F5344CB8AC3E}">
        <p14:creationId xmlns:p14="http://schemas.microsoft.com/office/powerpoint/2010/main" val="768399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33A597-ADC8-48EE-BE13-0F280E91D60B}" type="datetimeFigureOut">
              <a:rPr lang="en-IN" smtClean="0"/>
              <a:t>07-09-2026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8937EF-40FB-476F-8352-F8CFF707C1BB}" type="slidenum">
              <a:rPr lang="en-IN" smtClean="0"/>
              <a:t>‹#›</a:t>
            </a:fld>
            <a:endParaRPr lang="en-IN"/>
          </a:p>
        </p:txBody>
      </p:sp>
    </p:spTree>
    <p:extLst>
      <p:ext uri="{BB962C8B-B14F-4D97-AF65-F5344CB8AC3E}">
        <p14:creationId xmlns:p14="http://schemas.microsoft.com/office/powerpoint/2010/main" val="3657240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33A597-ADC8-48EE-BE13-0F280E91D60B}" type="datetimeFigureOut">
              <a:rPr lang="en-IN" smtClean="0"/>
              <a:t>07-09-2026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8937EF-40FB-476F-8352-F8CFF707C1BB}" type="slidenum">
              <a:rPr lang="en-IN" smtClean="0"/>
              <a:t>‹#›</a:t>
            </a:fld>
            <a:endParaRPr lang="en-IN"/>
          </a:p>
        </p:txBody>
      </p:sp>
    </p:spTree>
    <p:extLst>
      <p:ext uri="{BB962C8B-B14F-4D97-AF65-F5344CB8AC3E}">
        <p14:creationId xmlns:p14="http://schemas.microsoft.com/office/powerpoint/2010/main" val="3605475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33A597-ADC8-48EE-BE13-0F280E91D60B}" type="datetimeFigureOut">
              <a:rPr lang="en-IN" smtClean="0"/>
              <a:t>07-09-2026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937EF-40FB-476F-8352-F8CFF707C1BB}" type="slidenum">
              <a:rPr lang="en-IN" smtClean="0"/>
              <a:t>‹#›</a:t>
            </a:fld>
            <a:endParaRPr lang="en-IN"/>
          </a:p>
        </p:txBody>
      </p:sp>
    </p:spTree>
    <p:extLst>
      <p:ext uri="{BB962C8B-B14F-4D97-AF65-F5344CB8AC3E}">
        <p14:creationId xmlns:p14="http://schemas.microsoft.com/office/powerpoint/2010/main" val="883759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33A597-ADC8-48EE-BE13-0F280E91D60B}" type="datetimeFigureOut">
              <a:rPr lang="en-IN" smtClean="0"/>
              <a:t>07-09-2026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937EF-40FB-476F-8352-F8CFF707C1BB}"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74963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33A597-ADC8-48EE-BE13-0F280E91D60B}" type="datetimeFigureOut">
              <a:rPr lang="en-IN" smtClean="0"/>
              <a:t>07-09-2026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937EF-40FB-476F-8352-F8CFF707C1BB}" type="slidenum">
              <a:rPr lang="en-IN" smtClean="0"/>
              <a:t>‹#›</a:t>
            </a:fld>
            <a:endParaRPr lang="en-IN"/>
          </a:p>
        </p:txBody>
      </p:sp>
    </p:spTree>
    <p:extLst>
      <p:ext uri="{BB962C8B-B14F-4D97-AF65-F5344CB8AC3E}">
        <p14:creationId xmlns:p14="http://schemas.microsoft.com/office/powerpoint/2010/main" val="1001916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33A597-ADC8-48EE-BE13-0F280E91D60B}" type="datetimeFigureOut">
              <a:rPr lang="en-IN" smtClean="0"/>
              <a:t>07-09-2026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937EF-40FB-476F-8352-F8CFF707C1B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82861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33A597-ADC8-48EE-BE13-0F280E91D60B}" type="datetimeFigureOut">
              <a:rPr lang="en-IN" smtClean="0"/>
              <a:t>07-09-2026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937EF-40FB-476F-8352-F8CFF707C1BB}" type="slidenum">
              <a:rPr lang="en-IN" smtClean="0"/>
              <a:t>‹#›</a:t>
            </a:fld>
            <a:endParaRPr lang="en-IN"/>
          </a:p>
        </p:txBody>
      </p:sp>
    </p:spTree>
    <p:extLst>
      <p:ext uri="{BB962C8B-B14F-4D97-AF65-F5344CB8AC3E}">
        <p14:creationId xmlns:p14="http://schemas.microsoft.com/office/powerpoint/2010/main" val="40401994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33A597-ADC8-48EE-BE13-0F280E91D60B}" type="datetimeFigureOut">
              <a:rPr lang="en-IN" smtClean="0"/>
              <a:t>07-09-2026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937EF-40FB-476F-8352-F8CFF707C1BB}" type="slidenum">
              <a:rPr lang="en-IN" smtClean="0"/>
              <a:t>‹#›</a:t>
            </a:fld>
            <a:endParaRPr lang="en-IN"/>
          </a:p>
        </p:txBody>
      </p:sp>
    </p:spTree>
    <p:extLst>
      <p:ext uri="{BB962C8B-B14F-4D97-AF65-F5344CB8AC3E}">
        <p14:creationId xmlns:p14="http://schemas.microsoft.com/office/powerpoint/2010/main" val="41968787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33A597-ADC8-48EE-BE13-0F280E91D60B}" type="datetimeFigureOut">
              <a:rPr lang="en-IN" smtClean="0"/>
              <a:t>07-09-2026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937EF-40FB-476F-8352-F8CFF707C1BB}" type="slidenum">
              <a:rPr lang="en-IN" smtClean="0"/>
              <a:t>‹#›</a:t>
            </a:fld>
            <a:endParaRPr lang="en-IN"/>
          </a:p>
        </p:txBody>
      </p:sp>
    </p:spTree>
    <p:extLst>
      <p:ext uri="{BB962C8B-B14F-4D97-AF65-F5344CB8AC3E}">
        <p14:creationId xmlns:p14="http://schemas.microsoft.com/office/powerpoint/2010/main" val="277742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633A597-ADC8-48EE-BE13-0F280E91D60B}" type="datetimeFigureOut">
              <a:rPr lang="en-IN" smtClean="0"/>
              <a:t>07-09-2026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58937EF-40FB-476F-8352-F8CFF707C1BB}" type="slidenum">
              <a:rPr lang="en-IN" smtClean="0"/>
              <a:t>‹#›</a:t>
            </a:fld>
            <a:endParaRPr lang="en-IN"/>
          </a:p>
        </p:txBody>
      </p:sp>
    </p:spTree>
    <p:extLst>
      <p:ext uri="{BB962C8B-B14F-4D97-AF65-F5344CB8AC3E}">
        <p14:creationId xmlns:p14="http://schemas.microsoft.com/office/powerpoint/2010/main" val="1451215051"/>
      </p:ext>
    </p:extLst>
  </p:cSld>
  <p:clrMap bg1="dk1" tx1="lt1" bg2="dk2" tx2="lt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 id="2147484121" r:id="rId12"/>
    <p:sldLayoutId id="2147484122" r:id="rId13"/>
    <p:sldLayoutId id="2147484123" r:id="rId14"/>
    <p:sldLayoutId id="2147484124" r:id="rId15"/>
    <p:sldLayoutId id="214748412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9BE8237-EE8A-09BE-3534-5A852A295B7F}"/>
              </a:ext>
            </a:extLst>
          </p:cNvPr>
          <p:cNvSpPr/>
          <p:nvPr/>
        </p:nvSpPr>
        <p:spPr>
          <a:xfrm>
            <a:off x="973394" y="1541206"/>
            <a:ext cx="4827638" cy="1887794"/>
          </a:xfrm>
          <a:prstGeom prst="roundRect">
            <a:avLst/>
          </a:prstGeom>
          <a:ln w="28575">
            <a:solidFill>
              <a:schemeClr val="bg1">
                <a:lumMod val="95000"/>
                <a:lumOff val="5000"/>
              </a:schemeClr>
            </a:solidFill>
          </a:ln>
          <a:effectLst>
            <a:outerShdw blurRad="76200" dist="12700" dir="8100000" sy="-23000" kx="800400" algn="br" rotWithShape="0">
              <a:prstClr val="black">
                <a:alpha val="2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r>
              <a:rPr lang="en-IN" sz="3200" dirty="0">
                <a:solidFill>
                  <a:schemeClr val="bg1"/>
                </a:solidFill>
              </a:rPr>
              <a:t>Hotel Reservation</a:t>
            </a:r>
          </a:p>
          <a:p>
            <a:r>
              <a:rPr lang="en-IN" sz="3200" dirty="0">
                <a:solidFill>
                  <a:schemeClr val="bg1"/>
                </a:solidFill>
              </a:rPr>
              <a:t>Management System</a:t>
            </a:r>
          </a:p>
        </p:txBody>
      </p:sp>
    </p:spTree>
    <p:extLst>
      <p:ext uri="{BB962C8B-B14F-4D97-AF65-F5344CB8AC3E}">
        <p14:creationId xmlns:p14="http://schemas.microsoft.com/office/powerpoint/2010/main" val="537132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F5D316A3-93A3-A4D4-5A19-E4DBF3070F18}"/>
              </a:ext>
            </a:extLst>
          </p:cNvPr>
          <p:cNvSpPr txBox="1">
            <a:spLocks/>
          </p:cNvSpPr>
          <p:nvPr/>
        </p:nvSpPr>
        <p:spPr>
          <a:xfrm>
            <a:off x="757546" y="296298"/>
            <a:ext cx="10596254" cy="747252"/>
          </a:xfrm>
          <a:prstGeom prst="rect">
            <a:avLst/>
          </a:prstGeom>
          <a:ln w="28575" cap="rnd" cmpd="sng" algn="ctr">
            <a:solidFill>
              <a:schemeClr val="bg1">
                <a:lumMod val="95000"/>
                <a:lumOff val="5000"/>
              </a:schemeClr>
            </a:solidFill>
            <a:prstDash val="solid"/>
          </a:ln>
        </p:spPr>
        <p:style>
          <a:lnRef idx="1">
            <a:schemeClr val="accent1"/>
          </a:lnRef>
          <a:fillRef idx="2">
            <a:schemeClr val="accent1"/>
          </a:fillRef>
          <a:effectRef idx="1">
            <a:schemeClr val="accent1"/>
          </a:effectRef>
          <a:fontRef idx="minor">
            <a:schemeClr val="dk1"/>
          </a:fontRef>
        </p:style>
        <p:txBody>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Abstract</a:t>
            </a:r>
            <a:endParaRPr lang="en-IN" dirty="0"/>
          </a:p>
        </p:txBody>
      </p:sp>
      <p:sp>
        <p:nvSpPr>
          <p:cNvPr id="4" name="Title 7">
            <a:extLst>
              <a:ext uri="{FF2B5EF4-FFF2-40B4-BE49-F238E27FC236}">
                <a16:creationId xmlns:a16="http://schemas.microsoft.com/office/drawing/2014/main" id="{148E2F3C-A4AE-8BEF-096A-CC7F6D60B4C8}"/>
              </a:ext>
            </a:extLst>
          </p:cNvPr>
          <p:cNvSpPr txBox="1">
            <a:spLocks/>
          </p:cNvSpPr>
          <p:nvPr/>
        </p:nvSpPr>
        <p:spPr>
          <a:xfrm>
            <a:off x="757546" y="1136955"/>
            <a:ext cx="10596254" cy="5263845"/>
          </a:xfrm>
          <a:prstGeom prst="rect">
            <a:avLst/>
          </a:prstGeom>
          <a:ln w="28575" cap="rnd" cmpd="sng" algn="ctr">
            <a:solidFill>
              <a:schemeClr val="bg1">
                <a:lumMod val="95000"/>
                <a:lumOff val="5000"/>
              </a:schemeClr>
            </a:solidFill>
            <a:prstDash val="solid"/>
          </a:ln>
        </p:spPr>
        <p:style>
          <a:lnRef idx="1">
            <a:schemeClr val="accent1"/>
          </a:lnRef>
          <a:fillRef idx="2">
            <a:schemeClr val="accent1"/>
          </a:fillRef>
          <a:effectRef idx="1">
            <a:schemeClr val="accent1"/>
          </a:effectRef>
          <a:fontRef idx="minor">
            <a:schemeClr val="dk1"/>
          </a:fontRef>
        </p:style>
        <p:txBody>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endParaRPr lang="en-IN" dirty="0"/>
          </a:p>
        </p:txBody>
      </p:sp>
      <p:sp>
        <p:nvSpPr>
          <p:cNvPr id="5" name="TextBox 4">
            <a:extLst>
              <a:ext uri="{FF2B5EF4-FFF2-40B4-BE49-F238E27FC236}">
                <a16:creationId xmlns:a16="http://schemas.microsoft.com/office/drawing/2014/main" id="{4E6208B1-5268-82D3-2EF1-6E91A732DA29}"/>
              </a:ext>
            </a:extLst>
          </p:cNvPr>
          <p:cNvSpPr txBox="1"/>
          <p:nvPr/>
        </p:nvSpPr>
        <p:spPr>
          <a:xfrm>
            <a:off x="983226" y="1386348"/>
            <a:ext cx="9832258" cy="4801314"/>
          </a:xfrm>
          <a:prstGeom prst="rect">
            <a:avLst/>
          </a:prstGeom>
          <a:noFill/>
        </p:spPr>
        <p:txBody>
          <a:bodyPr wrap="square" rtlCol="0">
            <a:spAutoFit/>
          </a:bodyPr>
          <a:lstStyle/>
          <a:p>
            <a:pPr marL="285750" indent="-285750">
              <a:buFont typeface="Arial" panose="020B0604020202020204" pitchFamily="34" charset="0"/>
              <a:buChar char="•"/>
            </a:pPr>
            <a:r>
              <a:rPr lang="en-IN" i="1" dirty="0">
                <a:solidFill>
                  <a:schemeClr val="bg1"/>
                </a:solidFill>
              </a:rPr>
              <a:t>The </a:t>
            </a:r>
            <a:r>
              <a:rPr lang="en-IN" b="1" i="1" dirty="0">
                <a:solidFill>
                  <a:schemeClr val="bg1"/>
                </a:solidFill>
              </a:rPr>
              <a:t>Hotel Reservation Management System</a:t>
            </a:r>
            <a:r>
              <a:rPr lang="en-IN" i="1" dirty="0">
                <a:solidFill>
                  <a:schemeClr val="bg1"/>
                </a:solidFill>
              </a:rPr>
              <a:t> is a MySQL-based database project developed to manage hotel operations efficiently. It stores and manages customer details, room information, bookings, payments, and reviews in a structured relational database. </a:t>
            </a:r>
          </a:p>
          <a:p>
            <a:endParaRPr lang="en-IN" i="1" dirty="0">
              <a:solidFill>
                <a:schemeClr val="bg1"/>
              </a:solidFill>
            </a:endParaRPr>
          </a:p>
          <a:p>
            <a:pPr marL="285750" indent="-285750">
              <a:buFont typeface="Arial" panose="020B0604020202020204" pitchFamily="34" charset="0"/>
              <a:buChar char="•"/>
            </a:pPr>
            <a:r>
              <a:rPr lang="en-IN" i="1" dirty="0">
                <a:solidFill>
                  <a:schemeClr val="bg1"/>
                </a:solidFill>
              </a:rPr>
              <a:t>The project uses SQL concepts such as </a:t>
            </a:r>
            <a:r>
              <a:rPr lang="en-IN" b="1" i="1" dirty="0">
                <a:solidFill>
                  <a:schemeClr val="bg1"/>
                </a:solidFill>
              </a:rPr>
              <a:t>Joins, Subqueries, Views, Window Functions, and Aggregate Functions</a:t>
            </a:r>
            <a:r>
              <a:rPr lang="en-IN" i="1" dirty="0">
                <a:solidFill>
                  <a:schemeClr val="bg1"/>
                </a:solidFill>
              </a:rPr>
              <a:t> to perform data management and generate useful reports. This system helps improve data organization, reduces redundancy, and ensures efficient hotel booking management.</a:t>
            </a:r>
          </a:p>
          <a:p>
            <a:pPr marL="285750" indent="-285750">
              <a:buFont typeface="Arial" panose="020B0604020202020204" pitchFamily="34" charset="0"/>
              <a:buChar char="•"/>
            </a:pPr>
            <a:endParaRPr lang="en-IN" i="1" dirty="0">
              <a:solidFill>
                <a:schemeClr val="bg1"/>
              </a:solidFill>
            </a:endParaRPr>
          </a:p>
          <a:p>
            <a:pPr marL="285750" indent="-285750">
              <a:buFont typeface="Arial" panose="020B0604020202020204" pitchFamily="34" charset="0"/>
              <a:buChar char="•"/>
            </a:pPr>
            <a:r>
              <a:rPr lang="en-IN" i="1" dirty="0">
                <a:solidFill>
                  <a:schemeClr val="bg1"/>
                </a:solidFill>
              </a:rPr>
              <a:t>The system enables users to manage hotel bookings, track room availability, record payment transactions, and maintain customer feedback. It also generates meaningful reports, such as booking details, payment reports, customer reviews, and room status, to support efficient hotel management and decision-making.</a:t>
            </a:r>
          </a:p>
          <a:p>
            <a:pPr marL="285750" indent="-285750">
              <a:buFont typeface="Arial" panose="020B0604020202020204" pitchFamily="34" charset="0"/>
              <a:buChar char="•"/>
            </a:pPr>
            <a:endParaRPr lang="en-IN" i="1" dirty="0">
              <a:solidFill>
                <a:schemeClr val="bg1"/>
              </a:solidFill>
            </a:endParaRPr>
          </a:p>
          <a:p>
            <a:pPr marL="285750" indent="-285750">
              <a:buFont typeface="Arial" panose="020B0604020202020204" pitchFamily="34" charset="0"/>
              <a:buChar char="•"/>
            </a:pPr>
            <a:r>
              <a:rPr lang="en-IN" i="1" dirty="0">
                <a:solidFill>
                  <a:schemeClr val="bg1"/>
                </a:solidFill>
              </a:rPr>
              <a:t>Overall, this project demonstrates the practical application of relational database concepts and SQL in designing a reliable, organized, and efficient hotel management system.</a:t>
            </a:r>
          </a:p>
          <a:p>
            <a:endParaRPr lang="en-IN" dirty="0">
              <a:solidFill>
                <a:schemeClr val="bg1"/>
              </a:solidFill>
            </a:endParaRPr>
          </a:p>
        </p:txBody>
      </p:sp>
    </p:spTree>
    <p:extLst>
      <p:ext uri="{BB962C8B-B14F-4D97-AF65-F5344CB8AC3E}">
        <p14:creationId xmlns:p14="http://schemas.microsoft.com/office/powerpoint/2010/main" val="1698065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6325705-6033-6E5D-2DC0-A57679D92B74}"/>
              </a:ext>
            </a:extLst>
          </p:cNvPr>
          <p:cNvSpPr>
            <a:spLocks noGrp="1"/>
          </p:cNvSpPr>
          <p:nvPr>
            <p:ph type="title"/>
          </p:nvPr>
        </p:nvSpPr>
        <p:spPr>
          <a:xfrm>
            <a:off x="757546" y="296298"/>
            <a:ext cx="10596254" cy="747252"/>
          </a:xfr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a:lstStyle/>
          <a:p>
            <a:pPr algn="ctr"/>
            <a:r>
              <a:rPr lang="en-US" dirty="0"/>
              <a:t>ER DIAGRAM</a:t>
            </a:r>
            <a:endParaRPr lang="en-IN" dirty="0"/>
          </a:p>
        </p:txBody>
      </p:sp>
      <p:pic>
        <p:nvPicPr>
          <p:cNvPr id="7" name="Picture 6">
            <a:extLst>
              <a:ext uri="{FF2B5EF4-FFF2-40B4-BE49-F238E27FC236}">
                <a16:creationId xmlns:a16="http://schemas.microsoft.com/office/drawing/2014/main" id="{B47AE91A-255D-653C-4C3A-F1F32FB07A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546" y="1268362"/>
            <a:ext cx="10596254" cy="4939379"/>
          </a:xfrm>
          <a:prstGeom prst="rect">
            <a:avLst/>
          </a:prstGeom>
          <a:solidFill>
            <a:srgbClr val="FFFFFF">
              <a:shade val="85000"/>
            </a:srgbClr>
          </a:solidFill>
          <a:ln w="190500" cap="rnd">
            <a:solidFill>
              <a:schemeClr val="accent6">
                <a:lumMod val="75000"/>
              </a:schemeClr>
            </a:solidFill>
          </a:ln>
          <a:effectLst>
            <a:outerShdw blurRad="50800" dist="38100" dir="5400000" algn="t" rotWithShape="0">
              <a:prstClr val="black">
                <a:alpha val="40000"/>
              </a:prst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07012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06816C-EA37-73B9-5ED9-E69CC1DE5047}"/>
              </a:ext>
            </a:extLst>
          </p:cNvPr>
          <p:cNvSpPr>
            <a:spLocks noGrp="1"/>
          </p:cNvSpPr>
          <p:nvPr>
            <p:ph type="title" idx="4294967295"/>
          </p:nvPr>
        </p:nvSpPr>
        <p:spPr>
          <a:xfrm>
            <a:off x="560437" y="373626"/>
            <a:ext cx="10903975" cy="953729"/>
          </a:xfr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a:normAutofit/>
          </a:bodyPr>
          <a:lstStyle/>
          <a:p>
            <a:pPr algn="ctr"/>
            <a:r>
              <a:rPr lang="en-US" dirty="0"/>
              <a:t>Structure of Customer Table</a:t>
            </a:r>
            <a:endParaRPr lang="en-IN" dirty="0"/>
          </a:p>
        </p:txBody>
      </p:sp>
      <p:pic>
        <p:nvPicPr>
          <p:cNvPr id="9" name="Content Placeholder 8">
            <a:extLst>
              <a:ext uri="{FF2B5EF4-FFF2-40B4-BE49-F238E27FC236}">
                <a16:creationId xmlns:a16="http://schemas.microsoft.com/office/drawing/2014/main" id="{C927EBF8-74B1-CDAE-5567-DEA0EFD8CC44}"/>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560438" y="1396181"/>
            <a:ext cx="6184491" cy="4375354"/>
          </a:xfrm>
          <a:prstGeom prst="rect">
            <a:avLst/>
          </a:prstGeom>
        </p:spPr>
      </p:pic>
      <p:sp>
        <p:nvSpPr>
          <p:cNvPr id="2" name="Title 2">
            <a:extLst>
              <a:ext uri="{FF2B5EF4-FFF2-40B4-BE49-F238E27FC236}">
                <a16:creationId xmlns:a16="http://schemas.microsoft.com/office/drawing/2014/main" id="{762209D4-296C-15FD-B8E3-41EBAA5160E2}"/>
              </a:ext>
            </a:extLst>
          </p:cNvPr>
          <p:cNvSpPr txBox="1">
            <a:spLocks/>
          </p:cNvSpPr>
          <p:nvPr/>
        </p:nvSpPr>
        <p:spPr>
          <a:xfrm>
            <a:off x="6824671" y="1396180"/>
            <a:ext cx="4639741" cy="4375353"/>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sz="2400" b="1" spc="50" dirty="0">
                <a:ln w="0"/>
                <a:solidFill>
                  <a:schemeClr val="bg1"/>
                </a:solidFill>
                <a:effectLst>
                  <a:innerShdw blurRad="63500" dist="50800" dir="13500000">
                    <a:srgbClr val="000000">
                      <a:alpha val="50000"/>
                    </a:srgbClr>
                  </a:innerShdw>
                </a:effectLst>
              </a:rPr>
              <a:t>Customer Table</a:t>
            </a:r>
          </a:p>
          <a:p>
            <a:r>
              <a:rPr lang="en-IN" sz="1600" b="1" spc="50" dirty="0">
                <a:ln w="0"/>
                <a:solidFill>
                  <a:schemeClr val="bg1"/>
                </a:solidFill>
                <a:effectLst>
                  <a:innerShdw blurRad="63500" dist="50800" dir="13500000">
                    <a:srgbClr val="000000">
                      <a:alpha val="50000"/>
                    </a:srgbClr>
                  </a:innerShdw>
                </a:effectLst>
              </a:rPr>
              <a:t>This Table Stores customer details such as name, gender, email, and phone number for hotel bookings.</a:t>
            </a:r>
          </a:p>
          <a:p>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Syntax : </a:t>
            </a:r>
            <a:r>
              <a:rPr lang="en-IN" sz="1600" b="1" spc="50" dirty="0" err="1">
                <a:ln w="0"/>
                <a:solidFill>
                  <a:schemeClr val="bg1"/>
                </a:solidFill>
                <a:effectLst>
                  <a:innerShdw blurRad="63500" dist="50800" dir="13500000">
                    <a:srgbClr val="000000">
                      <a:alpha val="50000"/>
                    </a:srgbClr>
                  </a:innerShdw>
                </a:effectLst>
              </a:rPr>
              <a:t>Desc</a:t>
            </a:r>
            <a:r>
              <a:rPr lang="en-IN" sz="1600" b="1" spc="50" dirty="0">
                <a:ln w="0"/>
                <a:solidFill>
                  <a:schemeClr val="bg1"/>
                </a:solidFill>
                <a:effectLst>
                  <a:innerShdw blurRad="63500" dist="50800" dir="13500000">
                    <a:srgbClr val="000000">
                      <a:alpha val="50000"/>
                    </a:srgbClr>
                  </a:innerShdw>
                </a:effectLst>
              </a:rPr>
              <a:t> Customer;</a:t>
            </a:r>
          </a:p>
          <a:p>
            <a:endParaRPr lang="en-IN" sz="1600" dirty="0"/>
          </a:p>
          <a:p>
            <a:endParaRPr lang="en-IN" sz="1600" dirty="0"/>
          </a:p>
        </p:txBody>
      </p:sp>
    </p:spTree>
    <p:extLst>
      <p:ext uri="{BB962C8B-B14F-4D97-AF65-F5344CB8AC3E}">
        <p14:creationId xmlns:p14="http://schemas.microsoft.com/office/powerpoint/2010/main" val="781594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FBABEA8A-253F-A05F-A433-164D132F69DE}"/>
              </a:ext>
            </a:extLst>
          </p:cNvPr>
          <p:cNvSpPr txBox="1">
            <a:spLocks/>
          </p:cNvSpPr>
          <p:nvPr/>
        </p:nvSpPr>
        <p:spPr>
          <a:xfrm>
            <a:off x="560438" y="373626"/>
            <a:ext cx="10422194" cy="1002890"/>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Structure of Room Table</a:t>
            </a:r>
            <a:endParaRPr lang="en-IN" dirty="0"/>
          </a:p>
        </p:txBody>
      </p:sp>
      <p:sp>
        <p:nvSpPr>
          <p:cNvPr id="4" name="Title 2">
            <a:extLst>
              <a:ext uri="{FF2B5EF4-FFF2-40B4-BE49-F238E27FC236}">
                <a16:creationId xmlns:a16="http://schemas.microsoft.com/office/drawing/2014/main" id="{8ABE7291-A266-90C0-7C55-1831C133138D}"/>
              </a:ext>
            </a:extLst>
          </p:cNvPr>
          <p:cNvSpPr txBox="1">
            <a:spLocks/>
          </p:cNvSpPr>
          <p:nvPr/>
        </p:nvSpPr>
        <p:spPr>
          <a:xfrm>
            <a:off x="6618194" y="1474225"/>
            <a:ext cx="4364438" cy="41793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sz="2400" b="1" spc="50" dirty="0">
                <a:ln w="0"/>
                <a:solidFill>
                  <a:schemeClr val="bg1"/>
                </a:solidFill>
                <a:effectLst>
                  <a:innerShdw blurRad="63500" dist="50800" dir="13500000">
                    <a:srgbClr val="000000">
                      <a:alpha val="50000"/>
                    </a:srgbClr>
                  </a:innerShdw>
                </a:effectLst>
              </a:rPr>
              <a:t>Room Table</a:t>
            </a:r>
          </a:p>
          <a:p>
            <a:r>
              <a:rPr lang="en-IN" sz="1600" b="1" spc="50" dirty="0">
                <a:ln w="0"/>
                <a:solidFill>
                  <a:schemeClr val="bg1"/>
                </a:solidFill>
                <a:effectLst>
                  <a:innerShdw blurRad="63500" dist="50800" dir="13500000">
                    <a:srgbClr val="000000">
                      <a:alpha val="50000"/>
                    </a:srgbClr>
                  </a:innerShdw>
                </a:effectLst>
              </a:rPr>
              <a:t>This Table Stores room details such as room number, type, status, capacity, price per night, and AC availability.</a:t>
            </a:r>
          </a:p>
          <a:p>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Syntax : </a:t>
            </a:r>
            <a:r>
              <a:rPr lang="en-IN" sz="1600" b="1" spc="50" dirty="0" err="1">
                <a:ln w="0"/>
                <a:solidFill>
                  <a:schemeClr val="bg1"/>
                </a:solidFill>
                <a:effectLst>
                  <a:innerShdw blurRad="63500" dist="50800" dir="13500000">
                    <a:srgbClr val="000000">
                      <a:alpha val="50000"/>
                    </a:srgbClr>
                  </a:innerShdw>
                </a:effectLst>
              </a:rPr>
              <a:t>Desc</a:t>
            </a:r>
            <a:r>
              <a:rPr lang="en-IN" sz="1600" b="1" spc="50" dirty="0">
                <a:ln w="0"/>
                <a:solidFill>
                  <a:schemeClr val="bg1"/>
                </a:solidFill>
                <a:effectLst>
                  <a:innerShdw blurRad="63500" dist="50800" dir="13500000">
                    <a:srgbClr val="000000">
                      <a:alpha val="50000"/>
                    </a:srgbClr>
                  </a:innerShdw>
                </a:effectLst>
              </a:rPr>
              <a:t> Room;</a:t>
            </a:r>
          </a:p>
          <a:p>
            <a:endParaRPr lang="en-IN" sz="1600" dirty="0"/>
          </a:p>
          <a:p>
            <a:endParaRPr lang="en-IN" sz="1600" dirty="0"/>
          </a:p>
        </p:txBody>
      </p:sp>
      <p:pic>
        <p:nvPicPr>
          <p:cNvPr id="6" name="Picture 5">
            <a:extLst>
              <a:ext uri="{FF2B5EF4-FFF2-40B4-BE49-F238E27FC236}">
                <a16:creationId xmlns:a16="http://schemas.microsoft.com/office/drawing/2014/main" id="{6AE8012B-59F0-6AEB-6FBC-8CF2B22D0B67}"/>
              </a:ext>
            </a:extLst>
          </p:cNvPr>
          <p:cNvPicPr>
            <a:picLocks noChangeAspect="1"/>
          </p:cNvPicPr>
          <p:nvPr/>
        </p:nvPicPr>
        <p:blipFill>
          <a:blip r:embed="rId2"/>
          <a:stretch>
            <a:fillRect/>
          </a:stretch>
        </p:blipFill>
        <p:spPr>
          <a:xfrm>
            <a:off x="560438" y="1474224"/>
            <a:ext cx="5987846" cy="4179323"/>
          </a:xfrm>
          <a:prstGeom prst="rect">
            <a:avLst/>
          </a:prstGeom>
        </p:spPr>
      </p:pic>
    </p:spTree>
    <p:extLst>
      <p:ext uri="{BB962C8B-B14F-4D97-AF65-F5344CB8AC3E}">
        <p14:creationId xmlns:p14="http://schemas.microsoft.com/office/powerpoint/2010/main" val="89735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4EC0C3-EB61-27DB-5D8E-31EAE4C66BE0}"/>
              </a:ext>
            </a:extLst>
          </p:cNvPr>
          <p:cNvSpPr txBox="1">
            <a:spLocks/>
          </p:cNvSpPr>
          <p:nvPr/>
        </p:nvSpPr>
        <p:spPr>
          <a:xfrm>
            <a:off x="560437" y="314632"/>
            <a:ext cx="10913807" cy="1071715"/>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Structure of Booking Table</a:t>
            </a:r>
            <a:endParaRPr lang="en-IN" dirty="0"/>
          </a:p>
        </p:txBody>
      </p:sp>
      <p:sp>
        <p:nvSpPr>
          <p:cNvPr id="5" name="Title 2">
            <a:extLst>
              <a:ext uri="{FF2B5EF4-FFF2-40B4-BE49-F238E27FC236}">
                <a16:creationId xmlns:a16="http://schemas.microsoft.com/office/drawing/2014/main" id="{FF62AB21-9A35-D71B-96B8-C06880DB2960}"/>
              </a:ext>
            </a:extLst>
          </p:cNvPr>
          <p:cNvSpPr txBox="1">
            <a:spLocks/>
          </p:cNvSpPr>
          <p:nvPr/>
        </p:nvSpPr>
        <p:spPr>
          <a:xfrm>
            <a:off x="7434273" y="1474225"/>
            <a:ext cx="4039971" cy="4169490"/>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sz="2400" b="1" spc="50" dirty="0">
                <a:ln w="0"/>
                <a:solidFill>
                  <a:schemeClr val="bg1"/>
                </a:solidFill>
                <a:effectLst>
                  <a:innerShdw blurRad="63500" dist="50800" dir="13500000">
                    <a:srgbClr val="000000">
                      <a:alpha val="50000"/>
                    </a:srgbClr>
                  </a:innerShdw>
                </a:effectLst>
              </a:rPr>
              <a:t>Booking Table</a:t>
            </a:r>
          </a:p>
          <a:p>
            <a:r>
              <a:rPr lang="en-IN" sz="1600" b="1" spc="50" dirty="0">
                <a:ln w="0"/>
                <a:solidFill>
                  <a:schemeClr val="bg1"/>
                </a:solidFill>
                <a:effectLst>
                  <a:innerShdw blurRad="63500" dist="50800" dir="13500000">
                    <a:srgbClr val="000000">
                      <a:alpha val="50000"/>
                    </a:srgbClr>
                  </a:innerShdw>
                </a:effectLst>
              </a:rPr>
              <a:t>This Table Stores booking details, including check-in/check-out dates, booking date, total amount, and links customers with rooms.</a:t>
            </a:r>
          </a:p>
          <a:p>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Syntax : </a:t>
            </a:r>
            <a:r>
              <a:rPr lang="en-IN" sz="1600" b="1" spc="50" dirty="0" err="1">
                <a:ln w="0"/>
                <a:solidFill>
                  <a:schemeClr val="bg1"/>
                </a:solidFill>
                <a:effectLst>
                  <a:innerShdw blurRad="63500" dist="50800" dir="13500000">
                    <a:srgbClr val="000000">
                      <a:alpha val="50000"/>
                    </a:srgbClr>
                  </a:innerShdw>
                </a:effectLst>
              </a:rPr>
              <a:t>Desc</a:t>
            </a:r>
            <a:r>
              <a:rPr lang="en-IN" sz="1600" b="1" spc="50" dirty="0">
                <a:ln w="0"/>
                <a:solidFill>
                  <a:schemeClr val="bg1"/>
                </a:solidFill>
                <a:effectLst>
                  <a:innerShdw blurRad="63500" dist="50800" dir="13500000">
                    <a:srgbClr val="000000">
                      <a:alpha val="50000"/>
                    </a:srgbClr>
                  </a:innerShdw>
                </a:effectLst>
              </a:rPr>
              <a:t> Booking;</a:t>
            </a:r>
          </a:p>
          <a:p>
            <a:endParaRPr lang="en-IN" sz="1600" dirty="0"/>
          </a:p>
          <a:p>
            <a:endParaRPr lang="en-IN" sz="1600" dirty="0"/>
          </a:p>
        </p:txBody>
      </p:sp>
      <p:pic>
        <p:nvPicPr>
          <p:cNvPr id="7" name="Picture 6">
            <a:extLst>
              <a:ext uri="{FF2B5EF4-FFF2-40B4-BE49-F238E27FC236}">
                <a16:creationId xmlns:a16="http://schemas.microsoft.com/office/drawing/2014/main" id="{96FE9EF7-2239-BB77-BBDE-CD7E35D4577C}"/>
              </a:ext>
            </a:extLst>
          </p:cNvPr>
          <p:cNvPicPr>
            <a:picLocks noChangeAspect="1"/>
          </p:cNvPicPr>
          <p:nvPr/>
        </p:nvPicPr>
        <p:blipFill>
          <a:blip r:embed="rId2"/>
          <a:stretch>
            <a:fillRect/>
          </a:stretch>
        </p:blipFill>
        <p:spPr>
          <a:xfrm>
            <a:off x="560436" y="1474224"/>
            <a:ext cx="6784261" cy="4169491"/>
          </a:xfrm>
          <a:prstGeom prst="rect">
            <a:avLst/>
          </a:prstGeom>
        </p:spPr>
      </p:pic>
    </p:spTree>
    <p:extLst>
      <p:ext uri="{BB962C8B-B14F-4D97-AF65-F5344CB8AC3E}">
        <p14:creationId xmlns:p14="http://schemas.microsoft.com/office/powerpoint/2010/main" val="3127068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7E86AD-32BD-32DB-23B8-C3CDD5FA40BA}"/>
              </a:ext>
            </a:extLst>
          </p:cNvPr>
          <p:cNvSpPr txBox="1">
            <a:spLocks/>
          </p:cNvSpPr>
          <p:nvPr/>
        </p:nvSpPr>
        <p:spPr>
          <a:xfrm>
            <a:off x="560437" y="373626"/>
            <a:ext cx="10972801"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Structure of Payment Table</a:t>
            </a:r>
            <a:endParaRPr lang="en-IN" dirty="0"/>
          </a:p>
        </p:txBody>
      </p:sp>
      <p:sp>
        <p:nvSpPr>
          <p:cNvPr id="7" name="Title 2">
            <a:extLst>
              <a:ext uri="{FF2B5EF4-FFF2-40B4-BE49-F238E27FC236}">
                <a16:creationId xmlns:a16="http://schemas.microsoft.com/office/drawing/2014/main" id="{8D87774D-B42E-77FD-2CFB-C573339B2F91}"/>
              </a:ext>
            </a:extLst>
          </p:cNvPr>
          <p:cNvSpPr txBox="1">
            <a:spLocks/>
          </p:cNvSpPr>
          <p:nvPr/>
        </p:nvSpPr>
        <p:spPr>
          <a:xfrm>
            <a:off x="7365445" y="1474225"/>
            <a:ext cx="4167793" cy="4051504"/>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sz="2400" b="1" spc="50" dirty="0">
                <a:ln w="0"/>
                <a:solidFill>
                  <a:schemeClr val="bg1"/>
                </a:solidFill>
                <a:effectLst>
                  <a:innerShdw blurRad="63500" dist="50800" dir="13500000">
                    <a:srgbClr val="000000">
                      <a:alpha val="50000"/>
                    </a:srgbClr>
                  </a:innerShdw>
                </a:effectLst>
              </a:rPr>
              <a:t>Payment Table </a:t>
            </a:r>
          </a:p>
          <a:p>
            <a:r>
              <a:rPr lang="en-IN" sz="1600" b="1" spc="50" dirty="0">
                <a:ln w="0"/>
                <a:solidFill>
                  <a:schemeClr val="bg1"/>
                </a:solidFill>
                <a:effectLst>
                  <a:innerShdw blurRad="63500" dist="50800" dir="13500000">
                    <a:srgbClr val="000000">
                      <a:alpha val="50000"/>
                    </a:srgbClr>
                  </a:innerShdw>
                </a:effectLst>
              </a:rPr>
              <a:t>This Table Stores payment details, including payment date, amount, payment method, and the related booking.</a:t>
            </a:r>
          </a:p>
          <a:p>
            <a:r>
              <a:rPr lang="en-IN" sz="1600" b="1" spc="50" dirty="0">
                <a:ln w="0"/>
                <a:solidFill>
                  <a:schemeClr val="bg1"/>
                </a:solidFill>
                <a:effectLst>
                  <a:innerShdw blurRad="63500" dist="50800" dir="13500000">
                    <a:srgbClr val="000000">
                      <a:alpha val="50000"/>
                    </a:srgbClr>
                  </a:innerShdw>
                </a:effectLst>
              </a:rPr>
              <a:t>Syntax : </a:t>
            </a:r>
            <a:r>
              <a:rPr lang="en-IN" sz="1600" b="1" spc="50" dirty="0" err="1">
                <a:ln w="0"/>
                <a:solidFill>
                  <a:schemeClr val="bg1"/>
                </a:solidFill>
                <a:effectLst>
                  <a:innerShdw blurRad="63500" dist="50800" dir="13500000">
                    <a:srgbClr val="000000">
                      <a:alpha val="50000"/>
                    </a:srgbClr>
                  </a:innerShdw>
                </a:effectLst>
              </a:rPr>
              <a:t>Desc</a:t>
            </a:r>
            <a:r>
              <a:rPr lang="en-IN" sz="1600" b="1" spc="50" dirty="0">
                <a:ln w="0"/>
                <a:solidFill>
                  <a:schemeClr val="bg1"/>
                </a:solidFill>
                <a:effectLst>
                  <a:innerShdw blurRad="63500" dist="50800" dir="13500000">
                    <a:srgbClr val="000000">
                      <a:alpha val="50000"/>
                    </a:srgbClr>
                  </a:innerShdw>
                </a:effectLst>
              </a:rPr>
              <a:t> Payment;</a:t>
            </a:r>
          </a:p>
          <a:p>
            <a:endParaRPr lang="en-IN" sz="1600" dirty="0"/>
          </a:p>
          <a:p>
            <a:endParaRPr lang="en-IN" sz="1600" dirty="0"/>
          </a:p>
        </p:txBody>
      </p:sp>
      <p:pic>
        <p:nvPicPr>
          <p:cNvPr id="11" name="Picture 10">
            <a:extLst>
              <a:ext uri="{FF2B5EF4-FFF2-40B4-BE49-F238E27FC236}">
                <a16:creationId xmlns:a16="http://schemas.microsoft.com/office/drawing/2014/main" id="{447D0480-249E-DC78-89DE-E96795C93F51}"/>
              </a:ext>
            </a:extLst>
          </p:cNvPr>
          <p:cNvPicPr>
            <a:picLocks noChangeAspect="1"/>
          </p:cNvPicPr>
          <p:nvPr/>
        </p:nvPicPr>
        <p:blipFill>
          <a:blip r:embed="rId2"/>
          <a:stretch>
            <a:fillRect/>
          </a:stretch>
        </p:blipFill>
        <p:spPr>
          <a:xfrm>
            <a:off x="560437" y="1474225"/>
            <a:ext cx="6715433" cy="4051504"/>
          </a:xfrm>
          <a:prstGeom prst="rect">
            <a:avLst/>
          </a:prstGeom>
        </p:spPr>
      </p:pic>
    </p:spTree>
    <p:extLst>
      <p:ext uri="{BB962C8B-B14F-4D97-AF65-F5344CB8AC3E}">
        <p14:creationId xmlns:p14="http://schemas.microsoft.com/office/powerpoint/2010/main" val="960369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76D888-1852-294F-17A5-F9B8131C6D4E}"/>
              </a:ext>
            </a:extLst>
          </p:cNvPr>
          <p:cNvSpPr txBox="1">
            <a:spLocks/>
          </p:cNvSpPr>
          <p:nvPr/>
        </p:nvSpPr>
        <p:spPr>
          <a:xfrm>
            <a:off x="560437" y="353962"/>
            <a:ext cx="11002297"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Structure of Review Table</a:t>
            </a:r>
            <a:endParaRPr lang="en-IN" dirty="0"/>
          </a:p>
        </p:txBody>
      </p:sp>
      <p:sp>
        <p:nvSpPr>
          <p:cNvPr id="5" name="Title 2">
            <a:extLst>
              <a:ext uri="{FF2B5EF4-FFF2-40B4-BE49-F238E27FC236}">
                <a16:creationId xmlns:a16="http://schemas.microsoft.com/office/drawing/2014/main" id="{9249B2D3-7CCE-E29E-7692-776323299A07}"/>
              </a:ext>
            </a:extLst>
          </p:cNvPr>
          <p:cNvSpPr txBox="1">
            <a:spLocks/>
          </p:cNvSpPr>
          <p:nvPr/>
        </p:nvSpPr>
        <p:spPr>
          <a:xfrm>
            <a:off x="7325032" y="1474225"/>
            <a:ext cx="4167793" cy="413016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sz="2400" b="1" spc="50" dirty="0">
                <a:ln w="0"/>
                <a:solidFill>
                  <a:schemeClr val="bg1"/>
                </a:solidFill>
                <a:effectLst>
                  <a:innerShdw blurRad="63500" dist="50800" dir="13500000">
                    <a:srgbClr val="000000">
                      <a:alpha val="50000"/>
                    </a:srgbClr>
                  </a:innerShdw>
                </a:effectLst>
              </a:rPr>
              <a:t>Review Table</a:t>
            </a:r>
          </a:p>
          <a:p>
            <a:r>
              <a:rPr lang="en-IN" sz="1600" b="1" spc="50" dirty="0">
                <a:ln w="0"/>
                <a:solidFill>
                  <a:schemeClr val="bg1"/>
                </a:solidFill>
                <a:effectLst>
                  <a:innerShdw blurRad="63500" dist="50800" dir="13500000">
                    <a:srgbClr val="000000">
                      <a:alpha val="50000"/>
                    </a:srgbClr>
                  </a:innerShdw>
                </a:effectLst>
              </a:rPr>
              <a:t>This Table Stores customer reviews, including ratings and comments, linked to their hotel bookings.</a:t>
            </a:r>
          </a:p>
          <a:p>
            <a:r>
              <a:rPr lang="en-IN" sz="1600" b="1" spc="50" dirty="0">
                <a:ln w="0"/>
                <a:solidFill>
                  <a:schemeClr val="bg1"/>
                </a:solidFill>
                <a:effectLst>
                  <a:innerShdw blurRad="63500" dist="50800" dir="13500000">
                    <a:srgbClr val="000000">
                      <a:alpha val="50000"/>
                    </a:srgbClr>
                  </a:innerShdw>
                </a:effectLst>
              </a:rPr>
              <a:t>Syntax : </a:t>
            </a:r>
            <a:r>
              <a:rPr lang="en-IN" sz="1600" b="1" spc="50" dirty="0" err="1">
                <a:ln w="0"/>
                <a:solidFill>
                  <a:schemeClr val="bg1"/>
                </a:solidFill>
                <a:effectLst>
                  <a:innerShdw blurRad="63500" dist="50800" dir="13500000">
                    <a:srgbClr val="000000">
                      <a:alpha val="50000"/>
                    </a:srgbClr>
                  </a:innerShdw>
                </a:effectLst>
              </a:rPr>
              <a:t>Desc</a:t>
            </a:r>
            <a:r>
              <a:rPr lang="en-IN" sz="1600" b="1" spc="50" dirty="0">
                <a:ln w="0"/>
                <a:solidFill>
                  <a:schemeClr val="bg1"/>
                </a:solidFill>
                <a:effectLst>
                  <a:innerShdw blurRad="63500" dist="50800" dir="13500000">
                    <a:srgbClr val="000000">
                      <a:alpha val="50000"/>
                    </a:srgbClr>
                  </a:innerShdw>
                </a:effectLst>
              </a:rPr>
              <a:t> Review;</a:t>
            </a:r>
          </a:p>
          <a:p>
            <a:endParaRPr lang="en-IN" sz="1600" b="1" spc="50" dirty="0">
              <a:ln w="0"/>
              <a:solidFill>
                <a:schemeClr val="bg2"/>
              </a:solidFill>
              <a:effectLst>
                <a:innerShdw blurRad="63500" dist="50800" dir="13500000">
                  <a:srgbClr val="000000">
                    <a:alpha val="50000"/>
                  </a:srgbClr>
                </a:innerShdw>
              </a:effectLst>
            </a:endParaRPr>
          </a:p>
          <a:p>
            <a:endParaRPr lang="en-IN" sz="1600" b="1" spc="50" dirty="0">
              <a:ln w="0"/>
              <a:solidFill>
                <a:schemeClr val="bg2"/>
              </a:solidFill>
              <a:effectLst>
                <a:innerShdw blurRad="63500" dist="50800" dir="13500000">
                  <a:srgbClr val="000000">
                    <a:alpha val="50000"/>
                  </a:srgbClr>
                </a:innerShdw>
              </a:effectLst>
            </a:endParaRPr>
          </a:p>
        </p:txBody>
      </p:sp>
      <p:pic>
        <p:nvPicPr>
          <p:cNvPr id="7" name="Picture 6">
            <a:extLst>
              <a:ext uri="{FF2B5EF4-FFF2-40B4-BE49-F238E27FC236}">
                <a16:creationId xmlns:a16="http://schemas.microsoft.com/office/drawing/2014/main" id="{3878FCA8-7625-F51C-BE48-C8F554EF78AD}"/>
              </a:ext>
            </a:extLst>
          </p:cNvPr>
          <p:cNvPicPr>
            <a:picLocks noChangeAspect="1"/>
          </p:cNvPicPr>
          <p:nvPr/>
        </p:nvPicPr>
        <p:blipFill>
          <a:blip r:embed="rId2"/>
          <a:stretch>
            <a:fillRect/>
          </a:stretch>
        </p:blipFill>
        <p:spPr>
          <a:xfrm>
            <a:off x="560438" y="1474225"/>
            <a:ext cx="6646607" cy="4130162"/>
          </a:xfrm>
          <a:prstGeom prst="rect">
            <a:avLst/>
          </a:prstGeom>
        </p:spPr>
      </p:pic>
    </p:spTree>
    <p:extLst>
      <p:ext uri="{BB962C8B-B14F-4D97-AF65-F5344CB8AC3E}">
        <p14:creationId xmlns:p14="http://schemas.microsoft.com/office/powerpoint/2010/main" val="3029516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BFC3DF-36FE-4D35-4F03-8D04282C994D}"/>
              </a:ext>
            </a:extLst>
          </p:cNvPr>
          <p:cNvSpPr txBox="1">
            <a:spLocks/>
          </p:cNvSpPr>
          <p:nvPr/>
        </p:nvSpPr>
        <p:spPr>
          <a:xfrm>
            <a:off x="560437" y="373626"/>
            <a:ext cx="10736827"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Contents of Customer Table</a:t>
            </a:r>
            <a:endParaRPr lang="en-IN" dirty="0"/>
          </a:p>
        </p:txBody>
      </p:sp>
      <p:pic>
        <p:nvPicPr>
          <p:cNvPr id="5" name="Picture 4">
            <a:extLst>
              <a:ext uri="{FF2B5EF4-FFF2-40B4-BE49-F238E27FC236}">
                <a16:creationId xmlns:a16="http://schemas.microsoft.com/office/drawing/2014/main" id="{36B9937F-49B7-1ADB-9A45-B43FD2394F4D}"/>
              </a:ext>
            </a:extLst>
          </p:cNvPr>
          <p:cNvPicPr>
            <a:picLocks noChangeAspect="1"/>
          </p:cNvPicPr>
          <p:nvPr/>
        </p:nvPicPr>
        <p:blipFill>
          <a:blip r:embed="rId2"/>
          <a:stretch>
            <a:fillRect/>
          </a:stretch>
        </p:blipFill>
        <p:spPr>
          <a:xfrm>
            <a:off x="560438" y="1497294"/>
            <a:ext cx="7285704" cy="4598705"/>
          </a:xfrm>
          <a:prstGeom prst="rect">
            <a:avLst/>
          </a:prstGeom>
        </p:spPr>
      </p:pic>
      <p:sp>
        <p:nvSpPr>
          <p:cNvPr id="7" name="Title 2">
            <a:extLst>
              <a:ext uri="{FF2B5EF4-FFF2-40B4-BE49-F238E27FC236}">
                <a16:creationId xmlns:a16="http://schemas.microsoft.com/office/drawing/2014/main" id="{C9985B9E-B954-E7B6-9B70-6CF36A298515}"/>
              </a:ext>
            </a:extLst>
          </p:cNvPr>
          <p:cNvSpPr txBox="1">
            <a:spLocks/>
          </p:cNvSpPr>
          <p:nvPr/>
        </p:nvSpPr>
        <p:spPr>
          <a:xfrm>
            <a:off x="7914968" y="1497293"/>
            <a:ext cx="3382295" cy="4598705"/>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1600" b="1" spc="50" dirty="0">
                <a:ln w="0"/>
                <a:solidFill>
                  <a:schemeClr val="bg1"/>
                </a:solidFill>
                <a:effectLst>
                  <a:innerShdw blurRad="63500" dist="50800" dir="13500000">
                    <a:srgbClr val="000000">
                      <a:alpha val="50000"/>
                    </a:srgbClr>
                  </a:innerShdw>
                </a:effectLst>
              </a:rPr>
              <a:t>Syntax : Select * From Customer;</a:t>
            </a:r>
          </a:p>
          <a:p>
            <a:endParaRPr lang="en-IN" sz="1600" b="1" spc="50" dirty="0">
              <a:ln w="0"/>
              <a:solidFill>
                <a:schemeClr val="bg2"/>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2791130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5235E4-9003-2D3C-B8D2-2146E53D7872}"/>
              </a:ext>
            </a:extLst>
          </p:cNvPr>
          <p:cNvSpPr txBox="1">
            <a:spLocks/>
          </p:cNvSpPr>
          <p:nvPr/>
        </p:nvSpPr>
        <p:spPr>
          <a:xfrm>
            <a:off x="560437" y="373626"/>
            <a:ext cx="10736827"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Contents of Room Table</a:t>
            </a:r>
            <a:endParaRPr lang="en-IN" dirty="0"/>
          </a:p>
        </p:txBody>
      </p:sp>
      <p:sp>
        <p:nvSpPr>
          <p:cNvPr id="5" name="Title 2">
            <a:extLst>
              <a:ext uri="{FF2B5EF4-FFF2-40B4-BE49-F238E27FC236}">
                <a16:creationId xmlns:a16="http://schemas.microsoft.com/office/drawing/2014/main" id="{E34D39EA-3AFE-C208-E588-06DB36BBF322}"/>
              </a:ext>
            </a:extLst>
          </p:cNvPr>
          <p:cNvSpPr txBox="1">
            <a:spLocks/>
          </p:cNvSpPr>
          <p:nvPr/>
        </p:nvSpPr>
        <p:spPr>
          <a:xfrm>
            <a:off x="7914968" y="1497293"/>
            <a:ext cx="3382295" cy="4598705"/>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1600" b="1" spc="50" dirty="0">
                <a:ln w="0"/>
                <a:solidFill>
                  <a:schemeClr val="bg1"/>
                </a:solidFill>
                <a:effectLst>
                  <a:innerShdw blurRad="63500" dist="50800" dir="13500000">
                    <a:srgbClr val="000000">
                      <a:alpha val="50000"/>
                    </a:srgbClr>
                  </a:innerShdw>
                </a:effectLst>
              </a:rPr>
              <a:t>Syntax : Select * From Room;</a:t>
            </a:r>
          </a:p>
          <a:p>
            <a:endParaRPr lang="en-IN" sz="1600" b="1" spc="50" dirty="0">
              <a:ln w="0"/>
              <a:solidFill>
                <a:schemeClr val="bg2"/>
              </a:solidFill>
              <a:effectLst>
                <a:innerShdw blurRad="63500" dist="50800" dir="13500000">
                  <a:srgbClr val="000000">
                    <a:alpha val="50000"/>
                  </a:srgbClr>
                </a:innerShdw>
              </a:effectLst>
            </a:endParaRPr>
          </a:p>
        </p:txBody>
      </p:sp>
      <p:pic>
        <p:nvPicPr>
          <p:cNvPr id="7" name="Picture 6">
            <a:extLst>
              <a:ext uri="{FF2B5EF4-FFF2-40B4-BE49-F238E27FC236}">
                <a16:creationId xmlns:a16="http://schemas.microsoft.com/office/drawing/2014/main" id="{B4E85E86-A1FF-402E-86A8-9CC29C5FE0C3}"/>
              </a:ext>
            </a:extLst>
          </p:cNvPr>
          <p:cNvPicPr>
            <a:picLocks noChangeAspect="1"/>
          </p:cNvPicPr>
          <p:nvPr/>
        </p:nvPicPr>
        <p:blipFill>
          <a:blip r:embed="rId2"/>
          <a:stretch>
            <a:fillRect/>
          </a:stretch>
        </p:blipFill>
        <p:spPr>
          <a:xfrm>
            <a:off x="560437" y="1497292"/>
            <a:ext cx="7246376" cy="4598705"/>
          </a:xfrm>
          <a:prstGeom prst="rect">
            <a:avLst/>
          </a:prstGeom>
        </p:spPr>
      </p:pic>
    </p:spTree>
    <p:extLst>
      <p:ext uri="{BB962C8B-B14F-4D97-AF65-F5344CB8AC3E}">
        <p14:creationId xmlns:p14="http://schemas.microsoft.com/office/powerpoint/2010/main" val="2797127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483CA2-8790-64A2-16E4-4C40330F2E59}"/>
              </a:ext>
            </a:extLst>
          </p:cNvPr>
          <p:cNvSpPr txBox="1">
            <a:spLocks/>
          </p:cNvSpPr>
          <p:nvPr/>
        </p:nvSpPr>
        <p:spPr>
          <a:xfrm>
            <a:off x="560437" y="373626"/>
            <a:ext cx="10736827"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Contents of Booking Table</a:t>
            </a:r>
            <a:endParaRPr lang="en-IN" dirty="0"/>
          </a:p>
        </p:txBody>
      </p:sp>
      <p:sp>
        <p:nvSpPr>
          <p:cNvPr id="5" name="Title 2">
            <a:extLst>
              <a:ext uri="{FF2B5EF4-FFF2-40B4-BE49-F238E27FC236}">
                <a16:creationId xmlns:a16="http://schemas.microsoft.com/office/drawing/2014/main" id="{20A3A116-CEA0-D0DE-C936-18A6EF717397}"/>
              </a:ext>
            </a:extLst>
          </p:cNvPr>
          <p:cNvSpPr txBox="1">
            <a:spLocks/>
          </p:cNvSpPr>
          <p:nvPr/>
        </p:nvSpPr>
        <p:spPr>
          <a:xfrm>
            <a:off x="7914968" y="1497293"/>
            <a:ext cx="3382295" cy="4598705"/>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1600" b="1" spc="50" dirty="0">
                <a:ln w="0"/>
                <a:solidFill>
                  <a:schemeClr val="bg1"/>
                </a:solidFill>
                <a:effectLst>
                  <a:innerShdw blurRad="63500" dist="50800" dir="13500000">
                    <a:srgbClr val="000000">
                      <a:alpha val="50000"/>
                    </a:srgbClr>
                  </a:innerShdw>
                </a:effectLst>
              </a:rPr>
              <a:t>Syntax : Select * From </a:t>
            </a:r>
          </a:p>
          <a:p>
            <a:r>
              <a:rPr lang="en-IN" sz="1600" b="1" spc="50" dirty="0">
                <a:ln w="0"/>
                <a:solidFill>
                  <a:schemeClr val="bg1"/>
                </a:solidFill>
                <a:effectLst>
                  <a:innerShdw blurRad="63500" dist="50800" dir="13500000">
                    <a:srgbClr val="000000">
                      <a:alpha val="50000"/>
                    </a:srgbClr>
                  </a:innerShdw>
                </a:effectLst>
              </a:rPr>
              <a:t>Booking;</a:t>
            </a:r>
          </a:p>
          <a:p>
            <a:endParaRPr lang="en-IN" sz="1600" b="1" spc="50" dirty="0">
              <a:ln w="0"/>
              <a:solidFill>
                <a:schemeClr val="bg2"/>
              </a:solidFill>
              <a:effectLst>
                <a:innerShdw blurRad="63500" dist="50800" dir="13500000">
                  <a:srgbClr val="000000">
                    <a:alpha val="50000"/>
                  </a:srgbClr>
                </a:innerShdw>
              </a:effectLst>
            </a:endParaRPr>
          </a:p>
        </p:txBody>
      </p:sp>
      <p:pic>
        <p:nvPicPr>
          <p:cNvPr id="7" name="Picture 6">
            <a:extLst>
              <a:ext uri="{FF2B5EF4-FFF2-40B4-BE49-F238E27FC236}">
                <a16:creationId xmlns:a16="http://schemas.microsoft.com/office/drawing/2014/main" id="{34F59ED6-37DD-456E-2109-EC8B55508ED7}"/>
              </a:ext>
            </a:extLst>
          </p:cNvPr>
          <p:cNvPicPr>
            <a:picLocks noChangeAspect="1"/>
          </p:cNvPicPr>
          <p:nvPr/>
        </p:nvPicPr>
        <p:blipFill>
          <a:blip r:embed="rId2"/>
          <a:stretch>
            <a:fillRect/>
          </a:stretch>
        </p:blipFill>
        <p:spPr>
          <a:xfrm>
            <a:off x="560437" y="1497293"/>
            <a:ext cx="7246376" cy="4598706"/>
          </a:xfrm>
          <a:prstGeom prst="rect">
            <a:avLst/>
          </a:prstGeom>
        </p:spPr>
      </p:pic>
    </p:spTree>
    <p:extLst>
      <p:ext uri="{BB962C8B-B14F-4D97-AF65-F5344CB8AC3E}">
        <p14:creationId xmlns:p14="http://schemas.microsoft.com/office/powerpoint/2010/main" val="2033465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377B398-CCB3-3D9B-0376-0EFDC23B4872}"/>
              </a:ext>
            </a:extLst>
          </p:cNvPr>
          <p:cNvSpPr txBox="1">
            <a:spLocks/>
          </p:cNvSpPr>
          <p:nvPr/>
        </p:nvSpPr>
        <p:spPr>
          <a:xfrm>
            <a:off x="560437" y="373626"/>
            <a:ext cx="10736827"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Contents of Payment Table</a:t>
            </a:r>
            <a:endParaRPr lang="en-IN" dirty="0"/>
          </a:p>
        </p:txBody>
      </p:sp>
      <p:sp>
        <p:nvSpPr>
          <p:cNvPr id="5" name="Title 2">
            <a:extLst>
              <a:ext uri="{FF2B5EF4-FFF2-40B4-BE49-F238E27FC236}">
                <a16:creationId xmlns:a16="http://schemas.microsoft.com/office/drawing/2014/main" id="{320AAD12-DD6C-2043-4AFE-357921D1CA26}"/>
              </a:ext>
            </a:extLst>
          </p:cNvPr>
          <p:cNvSpPr txBox="1">
            <a:spLocks/>
          </p:cNvSpPr>
          <p:nvPr/>
        </p:nvSpPr>
        <p:spPr>
          <a:xfrm>
            <a:off x="7914968" y="1497293"/>
            <a:ext cx="3382295" cy="4598705"/>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1600" b="1" spc="50" dirty="0">
                <a:ln w="0"/>
                <a:solidFill>
                  <a:schemeClr val="bg1"/>
                </a:solidFill>
                <a:effectLst>
                  <a:innerShdw blurRad="63500" dist="50800" dir="13500000">
                    <a:srgbClr val="000000">
                      <a:alpha val="50000"/>
                    </a:srgbClr>
                  </a:innerShdw>
                </a:effectLst>
              </a:rPr>
              <a:t>Syntax : Select * From Payment;</a:t>
            </a:r>
          </a:p>
          <a:p>
            <a:endParaRPr lang="en-IN" sz="1600" b="1" spc="50" dirty="0">
              <a:ln w="0"/>
              <a:solidFill>
                <a:schemeClr val="bg2"/>
              </a:solidFill>
              <a:effectLst>
                <a:innerShdw blurRad="63500" dist="50800" dir="13500000">
                  <a:srgbClr val="000000">
                    <a:alpha val="50000"/>
                  </a:srgbClr>
                </a:innerShdw>
              </a:effectLst>
            </a:endParaRPr>
          </a:p>
        </p:txBody>
      </p:sp>
      <p:pic>
        <p:nvPicPr>
          <p:cNvPr id="7" name="Picture 6">
            <a:extLst>
              <a:ext uri="{FF2B5EF4-FFF2-40B4-BE49-F238E27FC236}">
                <a16:creationId xmlns:a16="http://schemas.microsoft.com/office/drawing/2014/main" id="{F4200DCB-0BF8-36FE-2E4D-970FE4FCE4B1}"/>
              </a:ext>
            </a:extLst>
          </p:cNvPr>
          <p:cNvPicPr>
            <a:picLocks noChangeAspect="1"/>
          </p:cNvPicPr>
          <p:nvPr/>
        </p:nvPicPr>
        <p:blipFill>
          <a:blip r:embed="rId2"/>
          <a:stretch>
            <a:fillRect/>
          </a:stretch>
        </p:blipFill>
        <p:spPr>
          <a:xfrm>
            <a:off x="560437" y="1497292"/>
            <a:ext cx="7266040" cy="4598705"/>
          </a:xfrm>
          <a:prstGeom prst="rect">
            <a:avLst/>
          </a:prstGeom>
        </p:spPr>
      </p:pic>
    </p:spTree>
    <p:extLst>
      <p:ext uri="{BB962C8B-B14F-4D97-AF65-F5344CB8AC3E}">
        <p14:creationId xmlns:p14="http://schemas.microsoft.com/office/powerpoint/2010/main" val="2107936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E78C32-F9F7-A75C-6A09-C023FD12AE5B}"/>
              </a:ext>
            </a:extLst>
          </p:cNvPr>
          <p:cNvSpPr txBox="1">
            <a:spLocks/>
          </p:cNvSpPr>
          <p:nvPr/>
        </p:nvSpPr>
        <p:spPr>
          <a:xfrm>
            <a:off x="560437" y="373626"/>
            <a:ext cx="10736827"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Contents of Review Table</a:t>
            </a:r>
            <a:endParaRPr lang="en-IN" dirty="0"/>
          </a:p>
        </p:txBody>
      </p:sp>
      <p:sp>
        <p:nvSpPr>
          <p:cNvPr id="5" name="Title 2">
            <a:extLst>
              <a:ext uri="{FF2B5EF4-FFF2-40B4-BE49-F238E27FC236}">
                <a16:creationId xmlns:a16="http://schemas.microsoft.com/office/drawing/2014/main" id="{CDD52D52-1B11-6977-26FF-266547B16F27}"/>
              </a:ext>
            </a:extLst>
          </p:cNvPr>
          <p:cNvSpPr txBox="1">
            <a:spLocks/>
          </p:cNvSpPr>
          <p:nvPr/>
        </p:nvSpPr>
        <p:spPr>
          <a:xfrm>
            <a:off x="7914968" y="1497293"/>
            <a:ext cx="3382295" cy="4598705"/>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1600" b="1" spc="50" dirty="0">
                <a:ln w="0"/>
                <a:solidFill>
                  <a:schemeClr val="bg1"/>
                </a:solidFill>
                <a:effectLst>
                  <a:innerShdw blurRad="63500" dist="50800" dir="13500000">
                    <a:srgbClr val="000000">
                      <a:alpha val="50000"/>
                    </a:srgbClr>
                  </a:innerShdw>
                </a:effectLst>
              </a:rPr>
              <a:t>Syntax : Select * From </a:t>
            </a:r>
          </a:p>
          <a:p>
            <a:r>
              <a:rPr lang="en-IN" sz="1600" b="1" spc="50" dirty="0">
                <a:ln w="0"/>
                <a:solidFill>
                  <a:schemeClr val="bg1"/>
                </a:solidFill>
                <a:effectLst>
                  <a:innerShdw blurRad="63500" dist="50800" dir="13500000">
                    <a:srgbClr val="000000">
                      <a:alpha val="50000"/>
                    </a:srgbClr>
                  </a:innerShdw>
                </a:effectLst>
              </a:rPr>
              <a:t>Review;</a:t>
            </a:r>
          </a:p>
          <a:p>
            <a:endParaRPr lang="en-IN" sz="1600" b="1" spc="50" dirty="0">
              <a:ln w="0"/>
              <a:solidFill>
                <a:schemeClr val="bg2"/>
              </a:solidFill>
              <a:effectLst>
                <a:innerShdw blurRad="63500" dist="50800" dir="13500000">
                  <a:srgbClr val="000000">
                    <a:alpha val="50000"/>
                  </a:srgbClr>
                </a:innerShdw>
              </a:effectLst>
            </a:endParaRPr>
          </a:p>
        </p:txBody>
      </p:sp>
      <p:pic>
        <p:nvPicPr>
          <p:cNvPr id="7" name="Picture 6">
            <a:extLst>
              <a:ext uri="{FF2B5EF4-FFF2-40B4-BE49-F238E27FC236}">
                <a16:creationId xmlns:a16="http://schemas.microsoft.com/office/drawing/2014/main" id="{65118F3F-61C0-E2A9-9026-D327D277EC20}"/>
              </a:ext>
            </a:extLst>
          </p:cNvPr>
          <p:cNvPicPr>
            <a:picLocks noChangeAspect="1"/>
          </p:cNvPicPr>
          <p:nvPr/>
        </p:nvPicPr>
        <p:blipFill>
          <a:blip r:embed="rId2"/>
          <a:stretch>
            <a:fillRect/>
          </a:stretch>
        </p:blipFill>
        <p:spPr>
          <a:xfrm>
            <a:off x="560437" y="1497293"/>
            <a:ext cx="7285705" cy="4598705"/>
          </a:xfrm>
          <a:prstGeom prst="rect">
            <a:avLst/>
          </a:prstGeom>
        </p:spPr>
      </p:pic>
    </p:spTree>
    <p:extLst>
      <p:ext uri="{BB962C8B-B14F-4D97-AF65-F5344CB8AC3E}">
        <p14:creationId xmlns:p14="http://schemas.microsoft.com/office/powerpoint/2010/main" val="1207366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42ACD67-5BD9-E30F-563F-DD4440A30F9D}"/>
              </a:ext>
            </a:extLst>
          </p:cNvPr>
          <p:cNvSpPr/>
          <p:nvPr/>
        </p:nvSpPr>
        <p:spPr>
          <a:xfrm>
            <a:off x="1553498" y="1541206"/>
            <a:ext cx="4178709" cy="1887794"/>
          </a:xfrm>
          <a:prstGeom prst="roundRect">
            <a:avLst/>
          </a:prstGeom>
          <a:ln w="28575">
            <a:solidFill>
              <a:schemeClr val="bg1">
                <a:lumMod val="95000"/>
                <a:lumOff val="5000"/>
              </a:schemeClr>
            </a:solidFill>
          </a:ln>
          <a:effectLst>
            <a:outerShdw blurRad="76200" dist="12700" dir="8100000" sy="-23000" kx="800400" algn="br" rotWithShape="0">
              <a:prstClr val="black">
                <a:alpha val="2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4000" dirty="0"/>
              <a:t>JOINS</a:t>
            </a:r>
          </a:p>
        </p:txBody>
      </p:sp>
    </p:spTree>
    <p:extLst>
      <p:ext uri="{BB962C8B-B14F-4D97-AF65-F5344CB8AC3E}">
        <p14:creationId xmlns:p14="http://schemas.microsoft.com/office/powerpoint/2010/main" val="3739120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67F35A-A4CE-662A-3479-5BCC1C4C08B2}"/>
              </a:ext>
            </a:extLst>
          </p:cNvPr>
          <p:cNvSpPr txBox="1">
            <a:spLocks/>
          </p:cNvSpPr>
          <p:nvPr/>
        </p:nvSpPr>
        <p:spPr>
          <a:xfrm>
            <a:off x="639097" y="226143"/>
            <a:ext cx="10913805"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Joins</a:t>
            </a:r>
          </a:p>
          <a:p>
            <a:pPr algn="ctr"/>
            <a:endParaRPr lang="en-IN" dirty="0"/>
          </a:p>
        </p:txBody>
      </p:sp>
      <p:sp>
        <p:nvSpPr>
          <p:cNvPr id="5" name="Title 2">
            <a:extLst>
              <a:ext uri="{FF2B5EF4-FFF2-40B4-BE49-F238E27FC236}">
                <a16:creationId xmlns:a16="http://schemas.microsoft.com/office/drawing/2014/main" id="{E937E26A-D482-D557-361F-E0EDC3CD6D94}"/>
              </a:ext>
            </a:extLst>
          </p:cNvPr>
          <p:cNvSpPr txBox="1">
            <a:spLocks/>
          </p:cNvSpPr>
          <p:nvPr/>
        </p:nvSpPr>
        <p:spPr>
          <a:xfrm>
            <a:off x="6646606" y="1330144"/>
            <a:ext cx="4906296" cy="4598705"/>
          </a:xfrm>
          <a:prstGeom prst="rect">
            <a:avLst/>
          </a:prstGeom>
          <a:ln w="28575">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2000" dirty="0">
                <a:solidFill>
                  <a:schemeClr val="bg1"/>
                </a:solidFill>
              </a:rPr>
              <a:t>1.Generate a report showing customer details, room information, and booking details.</a:t>
            </a:r>
          </a:p>
          <a:p>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Query:  </a:t>
            </a:r>
          </a:p>
          <a:p>
            <a:r>
              <a:rPr lang="en-IN" sz="1600" b="1" spc="50" dirty="0">
                <a:ln w="0"/>
                <a:solidFill>
                  <a:schemeClr val="bg1"/>
                </a:solidFill>
                <a:effectLst>
                  <a:innerShdw blurRad="63500" dist="50800" dir="13500000">
                    <a:srgbClr val="000000">
                      <a:alpha val="50000"/>
                    </a:srgbClr>
                  </a:innerShdw>
                </a:effectLst>
              </a:rPr>
              <a:t>select </a:t>
            </a:r>
            <a:r>
              <a:rPr lang="en-IN" sz="1600" b="1" spc="50" dirty="0" err="1">
                <a:ln w="0"/>
                <a:solidFill>
                  <a:schemeClr val="bg1"/>
                </a:solidFill>
                <a:effectLst>
                  <a:innerShdw blurRad="63500" dist="50800" dir="13500000">
                    <a:srgbClr val="000000">
                      <a:alpha val="50000"/>
                    </a:srgbClr>
                  </a:innerShdw>
                </a:effectLst>
              </a:rPr>
              <a:t>b.booking_id</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c.first_name</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c.last_name</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r.room_no</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r.room_type</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b.check_in_date</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b.check_out_date</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b.total_amount</a:t>
            </a:r>
            <a:r>
              <a:rPr lang="en-IN" sz="1600" b="1" spc="50" dirty="0">
                <a:ln w="0"/>
                <a:solidFill>
                  <a:schemeClr val="bg1"/>
                </a:solidFill>
                <a:effectLst>
                  <a:innerShdw blurRad="63500" dist="50800" dir="13500000">
                    <a:srgbClr val="000000">
                      <a:alpha val="50000"/>
                    </a:srgbClr>
                  </a:innerShdw>
                </a:effectLst>
              </a:rPr>
              <a:t> </a:t>
            </a:r>
          </a:p>
          <a:p>
            <a:r>
              <a:rPr lang="en-IN" sz="1600" b="1" spc="50" dirty="0">
                <a:ln w="0"/>
                <a:solidFill>
                  <a:schemeClr val="bg1"/>
                </a:solidFill>
                <a:effectLst>
                  <a:innerShdw blurRad="63500" dist="50800" dir="13500000">
                    <a:srgbClr val="000000">
                      <a:alpha val="50000"/>
                    </a:srgbClr>
                  </a:innerShdw>
                </a:effectLst>
              </a:rPr>
              <a:t>from booking b </a:t>
            </a:r>
          </a:p>
          <a:p>
            <a:r>
              <a:rPr lang="en-IN" sz="1600" b="1" spc="50" dirty="0">
                <a:ln w="0"/>
                <a:solidFill>
                  <a:schemeClr val="bg1"/>
                </a:solidFill>
                <a:effectLst>
                  <a:innerShdw blurRad="63500" dist="50800" dir="13500000">
                    <a:srgbClr val="000000">
                      <a:alpha val="50000"/>
                    </a:srgbClr>
                  </a:innerShdw>
                </a:effectLst>
              </a:rPr>
              <a:t>join customer c on </a:t>
            </a:r>
            <a:r>
              <a:rPr lang="en-IN" sz="1600" b="1" spc="50" dirty="0" err="1">
                <a:ln w="0"/>
                <a:solidFill>
                  <a:schemeClr val="bg1"/>
                </a:solidFill>
                <a:effectLst>
                  <a:innerShdw blurRad="63500" dist="50800" dir="13500000">
                    <a:srgbClr val="000000">
                      <a:alpha val="50000"/>
                    </a:srgbClr>
                  </a:innerShdw>
                </a:effectLst>
              </a:rPr>
              <a:t>b.customer_id</a:t>
            </a:r>
            <a:r>
              <a:rPr lang="en-IN" sz="1600" b="1" spc="50" dirty="0">
                <a:ln w="0"/>
                <a:solidFill>
                  <a:schemeClr val="bg1"/>
                </a:solidFill>
                <a:effectLst>
                  <a:innerShdw blurRad="63500" dist="50800" dir="13500000">
                    <a:srgbClr val="000000">
                      <a:alpha val="50000"/>
                    </a:srgbClr>
                  </a:innerShdw>
                </a:effectLst>
              </a:rPr>
              <a:t>=</a:t>
            </a:r>
            <a:r>
              <a:rPr lang="en-IN" sz="1600" b="1" spc="50" dirty="0" err="1">
                <a:ln w="0"/>
                <a:solidFill>
                  <a:schemeClr val="bg1"/>
                </a:solidFill>
                <a:effectLst>
                  <a:innerShdw blurRad="63500" dist="50800" dir="13500000">
                    <a:srgbClr val="000000">
                      <a:alpha val="50000"/>
                    </a:srgbClr>
                  </a:innerShdw>
                </a:effectLst>
              </a:rPr>
              <a:t>c.customer_id</a:t>
            </a:r>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join room r</a:t>
            </a:r>
          </a:p>
          <a:p>
            <a:r>
              <a:rPr lang="en-IN" sz="1600" b="1" spc="50" dirty="0">
                <a:ln w="0"/>
                <a:solidFill>
                  <a:schemeClr val="bg1"/>
                </a:solidFill>
                <a:effectLst>
                  <a:innerShdw blurRad="63500" dist="50800" dir="13500000">
                    <a:srgbClr val="000000">
                      <a:alpha val="50000"/>
                    </a:srgbClr>
                  </a:innerShdw>
                </a:effectLst>
              </a:rPr>
              <a:t>on </a:t>
            </a:r>
            <a:r>
              <a:rPr lang="en-IN" sz="1600" b="1" spc="50" dirty="0" err="1">
                <a:ln w="0"/>
                <a:solidFill>
                  <a:schemeClr val="bg1"/>
                </a:solidFill>
                <a:effectLst>
                  <a:innerShdw blurRad="63500" dist="50800" dir="13500000">
                    <a:srgbClr val="000000">
                      <a:alpha val="50000"/>
                    </a:srgbClr>
                  </a:innerShdw>
                </a:effectLst>
              </a:rPr>
              <a:t>r.room_id</a:t>
            </a:r>
            <a:r>
              <a:rPr lang="en-IN" sz="1600" b="1" spc="50" dirty="0">
                <a:ln w="0"/>
                <a:solidFill>
                  <a:schemeClr val="bg1"/>
                </a:solidFill>
                <a:effectLst>
                  <a:innerShdw blurRad="63500" dist="50800" dir="13500000">
                    <a:srgbClr val="000000">
                      <a:alpha val="50000"/>
                    </a:srgbClr>
                  </a:innerShdw>
                </a:effectLst>
              </a:rPr>
              <a:t>=</a:t>
            </a:r>
            <a:r>
              <a:rPr lang="en-IN" sz="1600" b="1" spc="50" dirty="0" err="1">
                <a:ln w="0"/>
                <a:solidFill>
                  <a:schemeClr val="bg1"/>
                </a:solidFill>
                <a:effectLst>
                  <a:innerShdw blurRad="63500" dist="50800" dir="13500000">
                    <a:srgbClr val="000000">
                      <a:alpha val="50000"/>
                    </a:srgbClr>
                  </a:innerShdw>
                </a:effectLst>
              </a:rPr>
              <a:t>b.room_id</a:t>
            </a:r>
            <a:r>
              <a:rPr lang="en-IN" sz="1600" b="1" spc="50" dirty="0">
                <a:ln w="0"/>
                <a:solidFill>
                  <a:schemeClr val="bg1"/>
                </a:solidFill>
                <a:effectLst>
                  <a:innerShdw blurRad="63500" dist="50800" dir="13500000">
                    <a:srgbClr val="000000">
                      <a:alpha val="50000"/>
                    </a:srgbClr>
                  </a:innerShdw>
                </a:effectLst>
              </a:rPr>
              <a:t>;</a:t>
            </a:r>
            <a:endParaRPr lang="en-IN" sz="1600" dirty="0">
              <a:solidFill>
                <a:schemeClr val="bg1"/>
              </a:solidFill>
            </a:endParaRPr>
          </a:p>
        </p:txBody>
      </p:sp>
      <p:pic>
        <p:nvPicPr>
          <p:cNvPr id="7" name="Picture 6">
            <a:extLst>
              <a:ext uri="{FF2B5EF4-FFF2-40B4-BE49-F238E27FC236}">
                <a16:creationId xmlns:a16="http://schemas.microsoft.com/office/drawing/2014/main" id="{E5A059F5-5D4E-6594-8826-605205461767}"/>
              </a:ext>
            </a:extLst>
          </p:cNvPr>
          <p:cNvPicPr>
            <a:picLocks noChangeAspect="1"/>
          </p:cNvPicPr>
          <p:nvPr/>
        </p:nvPicPr>
        <p:blipFill>
          <a:blip r:embed="rId2"/>
          <a:stretch>
            <a:fillRect/>
          </a:stretch>
        </p:blipFill>
        <p:spPr>
          <a:xfrm>
            <a:off x="639097" y="1330144"/>
            <a:ext cx="5921253" cy="4598705"/>
          </a:xfrm>
          <a:prstGeom prst="rect">
            <a:avLst/>
          </a:prstGeom>
        </p:spPr>
      </p:pic>
    </p:spTree>
    <p:extLst>
      <p:ext uri="{BB962C8B-B14F-4D97-AF65-F5344CB8AC3E}">
        <p14:creationId xmlns:p14="http://schemas.microsoft.com/office/powerpoint/2010/main" val="3320606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B5DB31-F465-C6CE-4A37-663F1061E73D}"/>
              </a:ext>
            </a:extLst>
          </p:cNvPr>
          <p:cNvSpPr txBox="1">
            <a:spLocks/>
          </p:cNvSpPr>
          <p:nvPr/>
        </p:nvSpPr>
        <p:spPr>
          <a:xfrm>
            <a:off x="639097" y="226143"/>
            <a:ext cx="10913805"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Joins</a:t>
            </a:r>
          </a:p>
          <a:p>
            <a:pPr algn="ctr"/>
            <a:endParaRPr lang="en-IN" dirty="0"/>
          </a:p>
        </p:txBody>
      </p:sp>
      <p:sp>
        <p:nvSpPr>
          <p:cNvPr id="5" name="Title 2">
            <a:extLst>
              <a:ext uri="{FF2B5EF4-FFF2-40B4-BE49-F238E27FC236}">
                <a16:creationId xmlns:a16="http://schemas.microsoft.com/office/drawing/2014/main" id="{D127AC11-3ED7-BD88-434D-2228FACC69A1}"/>
              </a:ext>
            </a:extLst>
          </p:cNvPr>
          <p:cNvSpPr txBox="1">
            <a:spLocks/>
          </p:cNvSpPr>
          <p:nvPr/>
        </p:nvSpPr>
        <p:spPr>
          <a:xfrm>
            <a:off x="6223818" y="1330144"/>
            <a:ext cx="5329083" cy="4598705"/>
          </a:xfrm>
          <a:prstGeom prst="rect">
            <a:avLst/>
          </a:prstGeom>
          <a:ln w="28575">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sz="2000" dirty="0">
                <a:solidFill>
                  <a:schemeClr val="bg1"/>
                </a:solidFill>
              </a:rPr>
              <a:t>2.Show customers who gave ratings below or </a:t>
            </a:r>
          </a:p>
          <a:p>
            <a:r>
              <a:rPr lang="en-US" sz="2000" dirty="0">
                <a:solidFill>
                  <a:schemeClr val="bg1"/>
                </a:solidFill>
              </a:rPr>
              <a:t>equal to 3</a:t>
            </a:r>
          </a:p>
          <a:p>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Query:  </a:t>
            </a:r>
          </a:p>
          <a:p>
            <a:r>
              <a:rPr lang="en-IN" sz="1600" b="1" spc="50" dirty="0">
                <a:ln w="0"/>
                <a:solidFill>
                  <a:schemeClr val="bg1"/>
                </a:solidFill>
                <a:effectLst>
                  <a:innerShdw blurRad="63500" dist="50800" dir="13500000">
                    <a:srgbClr val="000000">
                      <a:alpha val="50000"/>
                    </a:srgbClr>
                  </a:innerShdw>
                </a:effectLst>
              </a:rPr>
              <a:t>select </a:t>
            </a:r>
            <a:r>
              <a:rPr lang="en-IN" sz="1600" b="1" spc="50" dirty="0" err="1">
                <a:ln w="0"/>
                <a:solidFill>
                  <a:schemeClr val="bg1"/>
                </a:solidFill>
                <a:effectLst>
                  <a:innerShdw blurRad="63500" dist="50800" dir="13500000">
                    <a:srgbClr val="000000">
                      <a:alpha val="50000"/>
                    </a:srgbClr>
                  </a:innerShdw>
                </a:effectLst>
              </a:rPr>
              <a:t>c.first_name,c.last_name</a:t>
            </a:r>
            <a:r>
              <a:rPr lang="en-IN" sz="1600" b="1" spc="50" dirty="0">
                <a:ln w="0"/>
                <a:solidFill>
                  <a:schemeClr val="bg1"/>
                </a:solidFill>
                <a:effectLst>
                  <a:innerShdw blurRad="63500" dist="50800" dir="13500000">
                    <a:srgbClr val="000000">
                      <a:alpha val="50000"/>
                    </a:srgbClr>
                  </a:innerShdw>
                </a:effectLst>
              </a:rPr>
              <a:t> , </a:t>
            </a:r>
          </a:p>
          <a:p>
            <a:r>
              <a:rPr lang="en-IN" sz="1600" b="1" spc="50" dirty="0" err="1">
                <a:ln w="0"/>
                <a:solidFill>
                  <a:schemeClr val="bg1"/>
                </a:solidFill>
                <a:effectLst>
                  <a:innerShdw blurRad="63500" dist="50800" dir="13500000">
                    <a:srgbClr val="000000">
                      <a:alpha val="50000"/>
                    </a:srgbClr>
                  </a:innerShdw>
                </a:effectLst>
              </a:rPr>
              <a:t>r.Rating</a:t>
            </a:r>
            <a:r>
              <a:rPr lang="en-IN" sz="1600" b="1" spc="50" dirty="0">
                <a:ln w="0"/>
                <a:solidFill>
                  <a:schemeClr val="bg1"/>
                </a:solidFill>
                <a:effectLst>
                  <a:innerShdw blurRad="63500" dist="50800" dir="13500000">
                    <a:srgbClr val="000000">
                      <a:alpha val="50000"/>
                    </a:srgbClr>
                  </a:innerShdw>
                </a:effectLst>
              </a:rPr>
              <a:t> from customer c </a:t>
            </a:r>
          </a:p>
          <a:p>
            <a:r>
              <a:rPr lang="en-IN" sz="1600" b="1" spc="50" dirty="0">
                <a:ln w="0"/>
                <a:solidFill>
                  <a:schemeClr val="bg1"/>
                </a:solidFill>
                <a:effectLst>
                  <a:innerShdw blurRad="63500" dist="50800" dir="13500000">
                    <a:srgbClr val="000000">
                      <a:alpha val="50000"/>
                    </a:srgbClr>
                  </a:innerShdw>
                </a:effectLst>
              </a:rPr>
              <a:t> left join review r </a:t>
            </a:r>
          </a:p>
          <a:p>
            <a:r>
              <a:rPr lang="en-IN" sz="1600" b="1" spc="50" dirty="0">
                <a:ln w="0"/>
                <a:solidFill>
                  <a:schemeClr val="bg1"/>
                </a:solidFill>
                <a:effectLst>
                  <a:innerShdw blurRad="63500" dist="50800" dir="13500000">
                    <a:srgbClr val="000000">
                      <a:alpha val="50000"/>
                    </a:srgbClr>
                  </a:innerShdw>
                </a:effectLst>
              </a:rPr>
              <a:t>on </a:t>
            </a:r>
            <a:r>
              <a:rPr lang="en-IN" sz="1600" b="1" spc="50" dirty="0" err="1">
                <a:ln w="0"/>
                <a:solidFill>
                  <a:schemeClr val="bg1"/>
                </a:solidFill>
                <a:effectLst>
                  <a:innerShdw blurRad="63500" dist="50800" dir="13500000">
                    <a:srgbClr val="000000">
                      <a:alpha val="50000"/>
                    </a:srgbClr>
                  </a:innerShdw>
                </a:effectLst>
              </a:rPr>
              <a:t>c.customer_id</a:t>
            </a:r>
            <a:r>
              <a:rPr lang="en-IN" sz="1600" b="1" spc="50" dirty="0">
                <a:ln w="0"/>
                <a:solidFill>
                  <a:schemeClr val="bg1"/>
                </a:solidFill>
                <a:effectLst>
                  <a:innerShdw blurRad="63500" dist="50800" dir="13500000">
                    <a:srgbClr val="000000">
                      <a:alpha val="50000"/>
                    </a:srgbClr>
                  </a:innerShdw>
                </a:effectLst>
              </a:rPr>
              <a:t>=</a:t>
            </a:r>
            <a:r>
              <a:rPr lang="en-IN" sz="1600" b="1" spc="50" dirty="0" err="1">
                <a:ln w="0"/>
                <a:solidFill>
                  <a:schemeClr val="bg1"/>
                </a:solidFill>
                <a:effectLst>
                  <a:innerShdw blurRad="63500" dist="50800" dir="13500000">
                    <a:srgbClr val="000000">
                      <a:alpha val="50000"/>
                    </a:srgbClr>
                  </a:innerShdw>
                </a:effectLst>
              </a:rPr>
              <a:t>r.customer_id</a:t>
            </a:r>
            <a:r>
              <a:rPr lang="en-IN" sz="1600" b="1" spc="50" dirty="0">
                <a:ln w="0"/>
                <a:solidFill>
                  <a:schemeClr val="bg1"/>
                </a:solidFill>
                <a:effectLst>
                  <a:innerShdw blurRad="63500" dist="50800" dir="13500000">
                    <a:srgbClr val="000000">
                      <a:alpha val="50000"/>
                    </a:srgbClr>
                  </a:innerShdw>
                </a:effectLst>
              </a:rPr>
              <a:t> </a:t>
            </a:r>
          </a:p>
          <a:p>
            <a:r>
              <a:rPr lang="en-IN" sz="1600" b="1" spc="50" dirty="0">
                <a:ln w="0"/>
                <a:solidFill>
                  <a:schemeClr val="bg1"/>
                </a:solidFill>
                <a:effectLst>
                  <a:innerShdw blurRad="63500" dist="50800" dir="13500000">
                    <a:srgbClr val="000000">
                      <a:alpha val="50000"/>
                    </a:srgbClr>
                  </a:innerShdw>
                </a:effectLst>
              </a:rPr>
              <a:t>where </a:t>
            </a:r>
            <a:r>
              <a:rPr lang="en-IN" sz="1600" b="1" spc="50" dirty="0" err="1">
                <a:ln w="0"/>
                <a:solidFill>
                  <a:schemeClr val="bg1"/>
                </a:solidFill>
                <a:effectLst>
                  <a:innerShdw blurRad="63500" dist="50800" dir="13500000">
                    <a:srgbClr val="000000">
                      <a:alpha val="50000"/>
                    </a:srgbClr>
                  </a:innerShdw>
                </a:effectLst>
              </a:rPr>
              <a:t>r.rating</a:t>
            </a:r>
            <a:r>
              <a:rPr lang="en-IN" sz="1600" b="1" spc="50" dirty="0">
                <a:ln w="0"/>
                <a:solidFill>
                  <a:schemeClr val="bg1"/>
                </a:solidFill>
                <a:effectLst>
                  <a:innerShdw blurRad="63500" dist="50800" dir="13500000">
                    <a:srgbClr val="000000">
                      <a:alpha val="50000"/>
                    </a:srgbClr>
                  </a:innerShdw>
                </a:effectLst>
              </a:rPr>
              <a:t>&lt;=3;</a:t>
            </a:r>
            <a:endParaRPr lang="en-IN" sz="1600" dirty="0">
              <a:solidFill>
                <a:schemeClr val="bg1"/>
              </a:solidFill>
            </a:endParaRPr>
          </a:p>
        </p:txBody>
      </p:sp>
      <p:pic>
        <p:nvPicPr>
          <p:cNvPr id="7" name="Picture 6">
            <a:extLst>
              <a:ext uri="{FF2B5EF4-FFF2-40B4-BE49-F238E27FC236}">
                <a16:creationId xmlns:a16="http://schemas.microsoft.com/office/drawing/2014/main" id="{2C70926F-7EAA-1119-224A-FEF47FC148FA}"/>
              </a:ext>
            </a:extLst>
          </p:cNvPr>
          <p:cNvPicPr>
            <a:picLocks noChangeAspect="1"/>
          </p:cNvPicPr>
          <p:nvPr/>
        </p:nvPicPr>
        <p:blipFill>
          <a:blip r:embed="rId2"/>
          <a:stretch>
            <a:fillRect/>
          </a:stretch>
        </p:blipFill>
        <p:spPr>
          <a:xfrm>
            <a:off x="639097" y="1330145"/>
            <a:ext cx="5456903" cy="4598704"/>
          </a:xfrm>
          <a:prstGeom prst="rect">
            <a:avLst/>
          </a:prstGeom>
        </p:spPr>
      </p:pic>
    </p:spTree>
    <p:extLst>
      <p:ext uri="{BB962C8B-B14F-4D97-AF65-F5344CB8AC3E}">
        <p14:creationId xmlns:p14="http://schemas.microsoft.com/office/powerpoint/2010/main" val="1471520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F94EAE-A4B8-508D-10FE-EA2DEF32F877}"/>
              </a:ext>
            </a:extLst>
          </p:cNvPr>
          <p:cNvSpPr txBox="1">
            <a:spLocks/>
          </p:cNvSpPr>
          <p:nvPr/>
        </p:nvSpPr>
        <p:spPr>
          <a:xfrm>
            <a:off x="639097" y="226143"/>
            <a:ext cx="10913805"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Joins</a:t>
            </a:r>
          </a:p>
          <a:p>
            <a:pPr algn="ctr"/>
            <a:endParaRPr lang="en-IN" dirty="0"/>
          </a:p>
        </p:txBody>
      </p:sp>
      <p:sp>
        <p:nvSpPr>
          <p:cNvPr id="7" name="Title 2">
            <a:extLst>
              <a:ext uri="{FF2B5EF4-FFF2-40B4-BE49-F238E27FC236}">
                <a16:creationId xmlns:a16="http://schemas.microsoft.com/office/drawing/2014/main" id="{5B20A2DE-8E84-5F71-6EE0-22A9C29D04A8}"/>
              </a:ext>
            </a:extLst>
          </p:cNvPr>
          <p:cNvSpPr txBox="1">
            <a:spLocks/>
          </p:cNvSpPr>
          <p:nvPr/>
        </p:nvSpPr>
        <p:spPr>
          <a:xfrm>
            <a:off x="6646606" y="1330144"/>
            <a:ext cx="4906296" cy="4598705"/>
          </a:xfrm>
          <a:prstGeom prst="rect">
            <a:avLst/>
          </a:prstGeom>
          <a:ln w="28575">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2000" dirty="0">
                <a:solidFill>
                  <a:schemeClr val="bg1"/>
                </a:solidFill>
              </a:rPr>
              <a:t>3.Show the payment details for each customer's hotel booking.</a:t>
            </a:r>
          </a:p>
          <a:p>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Query:  </a:t>
            </a:r>
          </a:p>
          <a:p>
            <a:r>
              <a:rPr lang="en-IN" sz="1600" b="1" spc="50" dirty="0">
                <a:ln w="0"/>
                <a:solidFill>
                  <a:schemeClr val="bg1"/>
                </a:solidFill>
                <a:effectLst>
                  <a:innerShdw blurRad="63500" dist="50800" dir="13500000">
                    <a:srgbClr val="000000">
                      <a:alpha val="50000"/>
                    </a:srgbClr>
                  </a:innerShdw>
                </a:effectLst>
              </a:rPr>
              <a:t>SELECT</a:t>
            </a:r>
          </a:p>
          <a:p>
            <a:r>
              <a:rPr lang="en-IN" sz="1600" b="1" spc="50" dirty="0" err="1">
                <a:ln w="0"/>
                <a:solidFill>
                  <a:schemeClr val="bg1"/>
                </a:solidFill>
                <a:effectLst>
                  <a:innerShdw blurRad="63500" dist="50800" dir="13500000">
                    <a:srgbClr val="000000">
                      <a:alpha val="50000"/>
                    </a:srgbClr>
                  </a:innerShdw>
                </a:effectLst>
              </a:rPr>
              <a:t>c.first_name,c.last_name</a:t>
            </a:r>
            <a:r>
              <a:rPr lang="en-IN" sz="1600" b="1" spc="50" dirty="0">
                <a:ln w="0"/>
                <a:solidFill>
                  <a:schemeClr val="bg1"/>
                </a:solidFill>
                <a:effectLst>
                  <a:innerShdw blurRad="63500" dist="50800" dir="13500000">
                    <a:srgbClr val="000000">
                      <a:alpha val="50000"/>
                    </a:srgbClr>
                  </a:innerShdw>
                </a:effectLst>
              </a:rPr>
              <a:t>,</a:t>
            </a:r>
          </a:p>
          <a:p>
            <a:r>
              <a:rPr lang="en-IN" sz="1600" b="1" spc="50" dirty="0" err="1">
                <a:ln w="0"/>
                <a:solidFill>
                  <a:schemeClr val="bg1"/>
                </a:solidFill>
                <a:effectLst>
                  <a:innerShdw blurRad="63500" dist="50800" dir="13500000">
                    <a:srgbClr val="000000">
                      <a:alpha val="50000"/>
                    </a:srgbClr>
                  </a:innerShdw>
                </a:effectLst>
              </a:rPr>
              <a:t>r.room_no,p.amount</a:t>
            </a:r>
            <a:r>
              <a:rPr lang="en-IN" sz="1600" b="1" spc="50" dirty="0">
                <a:ln w="0"/>
                <a:solidFill>
                  <a:schemeClr val="bg1"/>
                </a:solidFill>
                <a:effectLst>
                  <a:innerShdw blurRad="63500" dist="50800" dir="13500000">
                    <a:srgbClr val="000000">
                      <a:alpha val="50000"/>
                    </a:srgbClr>
                  </a:innerShdw>
                </a:effectLst>
              </a:rPr>
              <a:t> AS </a:t>
            </a:r>
            <a:r>
              <a:rPr lang="en-IN" sz="1600" b="1" spc="50" dirty="0" err="1">
                <a:ln w="0"/>
                <a:solidFill>
                  <a:schemeClr val="bg1"/>
                </a:solidFill>
                <a:effectLst>
                  <a:innerShdw blurRad="63500" dist="50800" dir="13500000">
                    <a:srgbClr val="000000">
                      <a:alpha val="50000"/>
                    </a:srgbClr>
                  </a:innerShdw>
                </a:effectLst>
              </a:rPr>
              <a:t>payment_amount</a:t>
            </a:r>
            <a:r>
              <a:rPr lang="en-IN" sz="1600" b="1" spc="50" dirty="0">
                <a:ln w="0"/>
                <a:solidFill>
                  <a:schemeClr val="bg1"/>
                </a:solidFill>
                <a:effectLst>
                  <a:innerShdw blurRad="63500" dist="50800" dir="13500000">
                    <a:srgbClr val="000000">
                      <a:alpha val="50000"/>
                    </a:srgbClr>
                  </a:innerShdw>
                </a:effectLst>
              </a:rPr>
              <a:t>,</a:t>
            </a:r>
          </a:p>
          <a:p>
            <a:r>
              <a:rPr lang="en-IN" sz="1600" b="1" spc="50" dirty="0" err="1">
                <a:ln w="0"/>
                <a:solidFill>
                  <a:schemeClr val="bg1"/>
                </a:solidFill>
                <a:effectLst>
                  <a:innerShdw blurRad="63500" dist="50800" dir="13500000">
                    <a:srgbClr val="000000">
                      <a:alpha val="50000"/>
                    </a:srgbClr>
                  </a:innerShdw>
                </a:effectLst>
              </a:rPr>
              <a:t>p.payment_method,p.payment_date</a:t>
            </a:r>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FROM customer c</a:t>
            </a:r>
          </a:p>
          <a:p>
            <a:r>
              <a:rPr lang="en-IN" sz="1600" b="1" spc="50" dirty="0">
                <a:ln w="0"/>
                <a:solidFill>
                  <a:schemeClr val="bg1"/>
                </a:solidFill>
                <a:effectLst>
                  <a:innerShdw blurRad="63500" dist="50800" dir="13500000">
                    <a:srgbClr val="000000">
                      <a:alpha val="50000"/>
                    </a:srgbClr>
                  </a:innerShdw>
                </a:effectLst>
              </a:rPr>
              <a:t>JOIN booking b</a:t>
            </a:r>
          </a:p>
          <a:p>
            <a:r>
              <a:rPr lang="en-IN" sz="1600" b="1" spc="50" dirty="0">
                <a:ln w="0"/>
                <a:solidFill>
                  <a:schemeClr val="bg1"/>
                </a:solidFill>
                <a:effectLst>
                  <a:innerShdw blurRad="63500" dist="50800" dir="13500000">
                    <a:srgbClr val="000000">
                      <a:alpha val="50000"/>
                    </a:srgbClr>
                  </a:innerShdw>
                </a:effectLst>
              </a:rPr>
              <a:t>ON </a:t>
            </a:r>
            <a:r>
              <a:rPr lang="en-IN" sz="1600" b="1" spc="50" dirty="0" err="1">
                <a:ln w="0"/>
                <a:solidFill>
                  <a:schemeClr val="bg1"/>
                </a:solidFill>
                <a:effectLst>
                  <a:innerShdw blurRad="63500" dist="50800" dir="13500000">
                    <a:srgbClr val="000000">
                      <a:alpha val="50000"/>
                    </a:srgbClr>
                  </a:innerShdw>
                </a:effectLst>
              </a:rPr>
              <a:t>c.customer_id</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b.customer_id</a:t>
            </a:r>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JOIN room r</a:t>
            </a:r>
          </a:p>
          <a:p>
            <a:r>
              <a:rPr lang="en-IN" sz="1600" b="1" spc="50" dirty="0">
                <a:ln w="0"/>
                <a:solidFill>
                  <a:schemeClr val="bg1"/>
                </a:solidFill>
                <a:effectLst>
                  <a:innerShdw blurRad="63500" dist="50800" dir="13500000">
                    <a:srgbClr val="000000">
                      <a:alpha val="50000"/>
                    </a:srgbClr>
                  </a:innerShdw>
                </a:effectLst>
              </a:rPr>
              <a:t>ON </a:t>
            </a:r>
            <a:r>
              <a:rPr lang="en-IN" sz="1600" b="1" spc="50" dirty="0" err="1">
                <a:ln w="0"/>
                <a:solidFill>
                  <a:schemeClr val="bg1"/>
                </a:solidFill>
                <a:effectLst>
                  <a:innerShdw blurRad="63500" dist="50800" dir="13500000">
                    <a:srgbClr val="000000">
                      <a:alpha val="50000"/>
                    </a:srgbClr>
                  </a:innerShdw>
                </a:effectLst>
              </a:rPr>
              <a:t>r.room_id</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b.room_id</a:t>
            </a:r>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JOIN payment p</a:t>
            </a:r>
          </a:p>
          <a:p>
            <a:r>
              <a:rPr lang="en-IN" sz="1600" b="1" spc="50" dirty="0">
                <a:ln w="0"/>
                <a:solidFill>
                  <a:schemeClr val="bg1"/>
                </a:solidFill>
                <a:effectLst>
                  <a:innerShdw blurRad="63500" dist="50800" dir="13500000">
                    <a:srgbClr val="000000">
                      <a:alpha val="50000"/>
                    </a:srgbClr>
                  </a:innerShdw>
                </a:effectLst>
              </a:rPr>
              <a:t>ON </a:t>
            </a:r>
            <a:r>
              <a:rPr lang="en-IN" sz="1600" b="1" spc="50" dirty="0" err="1">
                <a:ln w="0"/>
                <a:solidFill>
                  <a:schemeClr val="bg1"/>
                </a:solidFill>
                <a:effectLst>
                  <a:innerShdw blurRad="63500" dist="50800" dir="13500000">
                    <a:srgbClr val="000000">
                      <a:alpha val="50000"/>
                    </a:srgbClr>
                  </a:innerShdw>
                </a:effectLst>
              </a:rPr>
              <a:t>p.booking_id</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b.booking_id</a:t>
            </a:r>
            <a:r>
              <a:rPr lang="en-IN" sz="1600" b="1" spc="50" dirty="0">
                <a:ln w="0"/>
                <a:solidFill>
                  <a:schemeClr val="bg1"/>
                </a:solidFill>
                <a:effectLst>
                  <a:innerShdw blurRad="63500" dist="50800" dir="13500000">
                    <a:srgbClr val="000000">
                      <a:alpha val="50000"/>
                    </a:srgbClr>
                  </a:innerShdw>
                </a:effectLst>
              </a:rPr>
              <a:t>;</a:t>
            </a:r>
          </a:p>
        </p:txBody>
      </p:sp>
      <p:pic>
        <p:nvPicPr>
          <p:cNvPr id="9" name="Picture 8">
            <a:extLst>
              <a:ext uri="{FF2B5EF4-FFF2-40B4-BE49-F238E27FC236}">
                <a16:creationId xmlns:a16="http://schemas.microsoft.com/office/drawing/2014/main" id="{B9B59D62-CF84-33CE-3289-9202E28E02F4}"/>
              </a:ext>
            </a:extLst>
          </p:cNvPr>
          <p:cNvPicPr>
            <a:picLocks noChangeAspect="1"/>
          </p:cNvPicPr>
          <p:nvPr/>
        </p:nvPicPr>
        <p:blipFill>
          <a:blip r:embed="rId2"/>
          <a:stretch>
            <a:fillRect/>
          </a:stretch>
        </p:blipFill>
        <p:spPr>
          <a:xfrm>
            <a:off x="639096" y="1330143"/>
            <a:ext cx="5928851" cy="4598705"/>
          </a:xfrm>
          <a:prstGeom prst="rect">
            <a:avLst/>
          </a:prstGeom>
        </p:spPr>
      </p:pic>
    </p:spTree>
    <p:extLst>
      <p:ext uri="{BB962C8B-B14F-4D97-AF65-F5344CB8AC3E}">
        <p14:creationId xmlns:p14="http://schemas.microsoft.com/office/powerpoint/2010/main" val="507440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3AB396-4372-8932-73C2-7682514808E0}"/>
              </a:ext>
            </a:extLst>
          </p:cNvPr>
          <p:cNvSpPr txBox="1">
            <a:spLocks/>
          </p:cNvSpPr>
          <p:nvPr/>
        </p:nvSpPr>
        <p:spPr>
          <a:xfrm>
            <a:off x="639096" y="196647"/>
            <a:ext cx="10913805"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Joins</a:t>
            </a:r>
          </a:p>
          <a:p>
            <a:pPr algn="ctr"/>
            <a:endParaRPr lang="en-IN" dirty="0"/>
          </a:p>
        </p:txBody>
      </p:sp>
      <p:sp>
        <p:nvSpPr>
          <p:cNvPr id="5" name="Title 2">
            <a:extLst>
              <a:ext uri="{FF2B5EF4-FFF2-40B4-BE49-F238E27FC236}">
                <a16:creationId xmlns:a16="http://schemas.microsoft.com/office/drawing/2014/main" id="{3191E49C-F57D-F0F9-805C-8A9295E39738}"/>
              </a:ext>
            </a:extLst>
          </p:cNvPr>
          <p:cNvSpPr txBox="1">
            <a:spLocks/>
          </p:cNvSpPr>
          <p:nvPr/>
        </p:nvSpPr>
        <p:spPr>
          <a:xfrm>
            <a:off x="6567947" y="1308021"/>
            <a:ext cx="4984953" cy="4883522"/>
          </a:xfrm>
          <a:prstGeom prst="rect">
            <a:avLst/>
          </a:prstGeom>
          <a:ln w="28575">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2000" dirty="0">
                <a:solidFill>
                  <a:schemeClr val="bg1"/>
                </a:solidFill>
              </a:rPr>
              <a:t>4.Display the customer details along with their ratings and review comments.</a:t>
            </a:r>
            <a:r>
              <a:rPr lang="en-US" sz="2000" dirty="0">
                <a:solidFill>
                  <a:schemeClr val="bg1"/>
                </a:solidFill>
              </a:rPr>
              <a:t>.</a:t>
            </a:r>
          </a:p>
          <a:p>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Query: </a:t>
            </a:r>
          </a:p>
          <a:p>
            <a:r>
              <a:rPr lang="en-US" sz="1600" b="1" spc="50" dirty="0">
                <a:ln w="0"/>
                <a:solidFill>
                  <a:schemeClr val="bg1"/>
                </a:solidFill>
                <a:effectLst>
                  <a:innerShdw blurRad="63500" dist="50800" dir="13500000">
                    <a:srgbClr val="000000">
                      <a:alpha val="50000"/>
                    </a:srgbClr>
                  </a:innerShdw>
                </a:effectLst>
              </a:rPr>
              <a:t>select </a:t>
            </a:r>
          </a:p>
          <a:p>
            <a:r>
              <a:rPr lang="en-US" sz="1600" b="1" spc="50" dirty="0" err="1">
                <a:ln w="0"/>
                <a:solidFill>
                  <a:schemeClr val="bg1"/>
                </a:solidFill>
                <a:effectLst>
                  <a:innerShdw blurRad="63500" dist="50800" dir="13500000">
                    <a:srgbClr val="000000">
                      <a:alpha val="50000"/>
                    </a:srgbClr>
                  </a:innerShdw>
                </a:effectLst>
              </a:rPr>
              <a:t>c.first_name</a:t>
            </a:r>
            <a:r>
              <a:rPr lang="en-US" sz="1600" b="1" spc="50" dirty="0">
                <a:ln w="0"/>
                <a:solidFill>
                  <a:schemeClr val="bg1"/>
                </a:solidFill>
                <a:effectLst>
                  <a:innerShdw blurRad="63500" dist="50800" dir="13500000">
                    <a:srgbClr val="000000">
                      <a:alpha val="50000"/>
                    </a:srgbClr>
                  </a:innerShdw>
                </a:effectLst>
              </a:rPr>
              <a:t> , </a:t>
            </a:r>
            <a:r>
              <a:rPr lang="en-US" sz="1600" b="1" spc="50" dirty="0" err="1">
                <a:ln w="0"/>
                <a:solidFill>
                  <a:schemeClr val="bg1"/>
                </a:solidFill>
                <a:effectLst>
                  <a:innerShdw blurRad="63500" dist="50800" dir="13500000">
                    <a:srgbClr val="000000">
                      <a:alpha val="50000"/>
                    </a:srgbClr>
                  </a:innerShdw>
                </a:effectLst>
              </a:rPr>
              <a:t>c.last_name</a:t>
            </a:r>
            <a:r>
              <a:rPr lang="en-US" sz="1600" b="1" spc="50" dirty="0">
                <a:ln w="0"/>
                <a:solidFill>
                  <a:schemeClr val="bg1"/>
                </a:solidFill>
                <a:effectLst>
                  <a:innerShdw blurRad="63500" dist="50800" dir="13500000">
                    <a:srgbClr val="000000">
                      <a:alpha val="50000"/>
                    </a:srgbClr>
                  </a:innerShdw>
                </a:effectLst>
              </a:rPr>
              <a:t> ,</a:t>
            </a:r>
            <a:r>
              <a:rPr lang="en-US" sz="1600" b="1" spc="50" dirty="0" err="1">
                <a:ln w="0"/>
                <a:solidFill>
                  <a:schemeClr val="bg1"/>
                </a:solidFill>
                <a:effectLst>
                  <a:innerShdw blurRad="63500" dist="50800" dir="13500000">
                    <a:srgbClr val="000000">
                      <a:alpha val="50000"/>
                    </a:srgbClr>
                  </a:innerShdw>
                </a:effectLst>
              </a:rPr>
              <a:t>r.rating</a:t>
            </a:r>
            <a:r>
              <a:rPr lang="en-US" sz="1600" b="1" spc="50" dirty="0">
                <a:ln w="0"/>
                <a:solidFill>
                  <a:schemeClr val="bg1"/>
                </a:solidFill>
                <a:effectLst>
                  <a:innerShdw blurRad="63500" dist="50800" dir="13500000">
                    <a:srgbClr val="000000">
                      <a:alpha val="50000"/>
                    </a:srgbClr>
                  </a:innerShdw>
                </a:effectLst>
              </a:rPr>
              <a:t> , </a:t>
            </a:r>
            <a:r>
              <a:rPr lang="en-US" sz="1600" b="1" spc="50" dirty="0" err="1">
                <a:ln w="0"/>
                <a:solidFill>
                  <a:schemeClr val="bg1"/>
                </a:solidFill>
                <a:effectLst>
                  <a:innerShdw blurRad="63500" dist="50800" dir="13500000">
                    <a:srgbClr val="000000">
                      <a:alpha val="50000"/>
                    </a:srgbClr>
                  </a:innerShdw>
                </a:effectLst>
              </a:rPr>
              <a:t>r.comment</a:t>
            </a:r>
            <a:r>
              <a:rPr lang="en-US" sz="1600" b="1" spc="50" dirty="0">
                <a:ln w="0"/>
                <a:solidFill>
                  <a:schemeClr val="bg1"/>
                </a:solidFill>
                <a:effectLst>
                  <a:innerShdw blurRad="63500" dist="50800" dir="13500000">
                    <a:srgbClr val="000000">
                      <a:alpha val="50000"/>
                    </a:srgbClr>
                  </a:innerShdw>
                </a:effectLst>
              </a:rPr>
              <a:t> as review </a:t>
            </a:r>
          </a:p>
          <a:p>
            <a:r>
              <a:rPr lang="en-US" sz="1600" b="1" spc="50" dirty="0">
                <a:ln w="0"/>
                <a:solidFill>
                  <a:schemeClr val="bg1"/>
                </a:solidFill>
                <a:effectLst>
                  <a:innerShdw blurRad="63500" dist="50800" dir="13500000">
                    <a:srgbClr val="000000">
                      <a:alpha val="50000"/>
                    </a:srgbClr>
                  </a:innerShdw>
                </a:effectLst>
              </a:rPr>
              <a:t>from customer c join review r</a:t>
            </a:r>
          </a:p>
          <a:p>
            <a:r>
              <a:rPr lang="en-US" sz="1600" b="1" spc="50" dirty="0">
                <a:ln w="0"/>
                <a:solidFill>
                  <a:schemeClr val="bg1"/>
                </a:solidFill>
                <a:effectLst>
                  <a:innerShdw blurRad="63500" dist="50800" dir="13500000">
                    <a:srgbClr val="000000">
                      <a:alpha val="50000"/>
                    </a:srgbClr>
                  </a:innerShdw>
                </a:effectLst>
              </a:rPr>
              <a:t>on </a:t>
            </a:r>
            <a:r>
              <a:rPr lang="en-US" sz="1600" b="1" spc="50" dirty="0" err="1">
                <a:ln w="0"/>
                <a:solidFill>
                  <a:schemeClr val="bg1"/>
                </a:solidFill>
                <a:effectLst>
                  <a:innerShdw blurRad="63500" dist="50800" dir="13500000">
                    <a:srgbClr val="000000">
                      <a:alpha val="50000"/>
                    </a:srgbClr>
                  </a:innerShdw>
                </a:effectLst>
              </a:rPr>
              <a:t>c.customer_id</a:t>
            </a:r>
            <a:r>
              <a:rPr lang="en-US" sz="1600" b="1" spc="50" dirty="0">
                <a:ln w="0"/>
                <a:solidFill>
                  <a:schemeClr val="bg1"/>
                </a:solidFill>
                <a:effectLst>
                  <a:innerShdw blurRad="63500" dist="50800" dir="13500000">
                    <a:srgbClr val="000000">
                      <a:alpha val="50000"/>
                    </a:srgbClr>
                  </a:innerShdw>
                </a:effectLst>
              </a:rPr>
              <a:t> = </a:t>
            </a:r>
            <a:r>
              <a:rPr lang="en-US" sz="1600" b="1" spc="50" dirty="0" err="1">
                <a:ln w="0"/>
                <a:solidFill>
                  <a:schemeClr val="bg1"/>
                </a:solidFill>
                <a:effectLst>
                  <a:innerShdw blurRad="63500" dist="50800" dir="13500000">
                    <a:srgbClr val="000000">
                      <a:alpha val="50000"/>
                    </a:srgbClr>
                  </a:innerShdw>
                </a:effectLst>
              </a:rPr>
              <a:t>r.customer_id</a:t>
            </a:r>
            <a:r>
              <a:rPr lang="en-US" sz="1600" b="1" spc="50" dirty="0">
                <a:ln w="0"/>
                <a:solidFill>
                  <a:schemeClr val="bg1"/>
                </a:solidFill>
                <a:effectLst>
                  <a:innerShdw blurRad="63500" dist="50800" dir="13500000">
                    <a:srgbClr val="000000">
                      <a:alpha val="50000"/>
                    </a:srgbClr>
                  </a:innerShdw>
                </a:effectLst>
              </a:rPr>
              <a:t>;</a:t>
            </a:r>
            <a:r>
              <a:rPr lang="en-IN" sz="1600" b="1" spc="50" dirty="0">
                <a:ln w="0"/>
                <a:solidFill>
                  <a:schemeClr val="bg1"/>
                </a:solidFill>
                <a:effectLst>
                  <a:innerShdw blurRad="63500" dist="50800" dir="13500000">
                    <a:srgbClr val="000000">
                      <a:alpha val="50000"/>
                    </a:srgbClr>
                  </a:innerShdw>
                </a:effectLst>
              </a:rPr>
              <a:t> </a:t>
            </a:r>
          </a:p>
          <a:p>
            <a:endParaRPr lang="en-IN" sz="1600" b="1" spc="50" dirty="0">
              <a:ln w="0"/>
              <a:solidFill>
                <a:schemeClr val="bg1"/>
              </a:solidFill>
              <a:effectLst>
                <a:innerShdw blurRad="63500" dist="50800" dir="13500000">
                  <a:srgbClr val="000000">
                    <a:alpha val="50000"/>
                  </a:srgbClr>
                </a:innerShdw>
              </a:effectLst>
            </a:endParaRPr>
          </a:p>
        </p:txBody>
      </p:sp>
      <p:pic>
        <p:nvPicPr>
          <p:cNvPr id="7" name="Picture 6">
            <a:extLst>
              <a:ext uri="{FF2B5EF4-FFF2-40B4-BE49-F238E27FC236}">
                <a16:creationId xmlns:a16="http://schemas.microsoft.com/office/drawing/2014/main" id="{ADBC7F93-120D-8AC8-3EDE-89F56906BD63}"/>
              </a:ext>
            </a:extLst>
          </p:cNvPr>
          <p:cNvPicPr>
            <a:picLocks noChangeAspect="1"/>
          </p:cNvPicPr>
          <p:nvPr/>
        </p:nvPicPr>
        <p:blipFill>
          <a:blip r:embed="rId2"/>
          <a:stretch>
            <a:fillRect/>
          </a:stretch>
        </p:blipFill>
        <p:spPr>
          <a:xfrm>
            <a:off x="639096" y="1308021"/>
            <a:ext cx="5833406" cy="4883522"/>
          </a:xfrm>
          <a:prstGeom prst="rect">
            <a:avLst/>
          </a:prstGeom>
        </p:spPr>
      </p:pic>
    </p:spTree>
    <p:extLst>
      <p:ext uri="{BB962C8B-B14F-4D97-AF65-F5344CB8AC3E}">
        <p14:creationId xmlns:p14="http://schemas.microsoft.com/office/powerpoint/2010/main" val="1041921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665FF3-E49A-090C-AD14-60EE53E45F0F}"/>
              </a:ext>
            </a:extLst>
          </p:cNvPr>
          <p:cNvSpPr txBox="1">
            <a:spLocks/>
          </p:cNvSpPr>
          <p:nvPr/>
        </p:nvSpPr>
        <p:spPr>
          <a:xfrm>
            <a:off x="639096" y="196647"/>
            <a:ext cx="10913805"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Joins</a:t>
            </a:r>
          </a:p>
          <a:p>
            <a:pPr algn="ctr"/>
            <a:endParaRPr lang="en-IN" dirty="0"/>
          </a:p>
        </p:txBody>
      </p:sp>
      <p:sp>
        <p:nvSpPr>
          <p:cNvPr id="7" name="Title 2">
            <a:extLst>
              <a:ext uri="{FF2B5EF4-FFF2-40B4-BE49-F238E27FC236}">
                <a16:creationId xmlns:a16="http://schemas.microsoft.com/office/drawing/2014/main" id="{0011AFAE-B653-75BF-019F-95A38E2680EE}"/>
              </a:ext>
            </a:extLst>
          </p:cNvPr>
          <p:cNvSpPr txBox="1">
            <a:spLocks/>
          </p:cNvSpPr>
          <p:nvPr/>
        </p:nvSpPr>
        <p:spPr>
          <a:xfrm>
            <a:off x="6646606" y="1330144"/>
            <a:ext cx="4906296" cy="4598705"/>
          </a:xfrm>
          <a:prstGeom prst="rect">
            <a:avLst/>
          </a:prstGeom>
          <a:ln w="28575">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2000" dirty="0">
                <a:solidFill>
                  <a:schemeClr val="bg1"/>
                </a:solidFill>
              </a:rPr>
              <a:t>5.</a:t>
            </a:r>
            <a:r>
              <a:rPr lang="en-US" sz="2000" dirty="0">
                <a:solidFill>
                  <a:schemeClr val="bg1"/>
                </a:solidFill>
              </a:rPr>
              <a:t>Generate a report of all confirmed bookings, including customer details, room information, and total charges.</a:t>
            </a:r>
          </a:p>
          <a:p>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Query:  </a:t>
            </a:r>
          </a:p>
          <a:p>
            <a:r>
              <a:rPr lang="en-IN" sz="1600" b="1" spc="50" dirty="0">
                <a:ln w="0"/>
                <a:solidFill>
                  <a:schemeClr val="bg1"/>
                </a:solidFill>
                <a:effectLst>
                  <a:innerShdw blurRad="63500" dist="50800" dir="13500000">
                    <a:srgbClr val="000000">
                      <a:alpha val="50000"/>
                    </a:srgbClr>
                  </a:innerShdw>
                </a:effectLst>
              </a:rPr>
              <a:t>select </a:t>
            </a:r>
            <a:r>
              <a:rPr lang="en-IN" sz="1600" b="1" spc="50" dirty="0" err="1">
                <a:ln w="0"/>
                <a:solidFill>
                  <a:schemeClr val="bg1"/>
                </a:solidFill>
                <a:effectLst>
                  <a:innerShdw blurRad="63500" dist="50800" dir="13500000">
                    <a:srgbClr val="000000">
                      <a:alpha val="50000"/>
                    </a:srgbClr>
                  </a:innerShdw>
                </a:effectLst>
              </a:rPr>
              <a:t>b.booking_id</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c.last_name</a:t>
            </a:r>
            <a:r>
              <a:rPr lang="en-IN" sz="1600" b="1" spc="50" dirty="0">
                <a:ln w="0"/>
                <a:solidFill>
                  <a:schemeClr val="bg1"/>
                </a:solidFill>
                <a:effectLst>
                  <a:innerShdw blurRad="63500" dist="50800" dir="13500000">
                    <a:srgbClr val="000000">
                      <a:alpha val="50000"/>
                    </a:srgbClr>
                  </a:innerShdw>
                </a:effectLst>
              </a:rPr>
              <a:t>,</a:t>
            </a:r>
          </a:p>
          <a:p>
            <a:r>
              <a:rPr lang="en-IN" sz="1600" b="1" spc="50" dirty="0" err="1">
                <a:ln w="0"/>
                <a:solidFill>
                  <a:schemeClr val="bg1"/>
                </a:solidFill>
                <a:effectLst>
                  <a:innerShdw blurRad="63500" dist="50800" dir="13500000">
                    <a:srgbClr val="000000">
                      <a:alpha val="50000"/>
                    </a:srgbClr>
                  </a:innerShdw>
                </a:effectLst>
              </a:rPr>
              <a:t>c.first_name</a:t>
            </a:r>
            <a:r>
              <a:rPr lang="en-IN" sz="1600" b="1" spc="50" dirty="0">
                <a:ln w="0"/>
                <a:solidFill>
                  <a:schemeClr val="bg1"/>
                </a:solidFill>
                <a:effectLst>
                  <a:innerShdw blurRad="63500" dist="50800" dir="13500000">
                    <a:srgbClr val="000000">
                      <a:alpha val="50000"/>
                    </a:srgbClr>
                  </a:innerShdw>
                </a:effectLst>
              </a:rPr>
              <a:t> ,</a:t>
            </a:r>
          </a:p>
          <a:p>
            <a:r>
              <a:rPr lang="en-IN" sz="1600" b="1" spc="50" dirty="0" err="1">
                <a:ln w="0"/>
                <a:solidFill>
                  <a:schemeClr val="bg1"/>
                </a:solidFill>
                <a:effectLst>
                  <a:innerShdw blurRad="63500" dist="50800" dir="13500000">
                    <a:srgbClr val="000000">
                      <a:alpha val="50000"/>
                    </a:srgbClr>
                  </a:innerShdw>
                </a:effectLst>
              </a:rPr>
              <a:t>r.room_status</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p.amount</a:t>
            </a:r>
            <a:r>
              <a:rPr lang="en-IN" sz="1600" b="1" spc="50" dirty="0">
                <a:ln w="0"/>
                <a:solidFill>
                  <a:schemeClr val="bg1"/>
                </a:solidFill>
                <a:effectLst>
                  <a:innerShdw blurRad="63500" dist="50800" dir="13500000">
                    <a:srgbClr val="000000">
                      <a:alpha val="50000"/>
                    </a:srgbClr>
                  </a:innerShdw>
                </a:effectLst>
              </a:rPr>
              <a:t> from </a:t>
            </a:r>
          </a:p>
          <a:p>
            <a:r>
              <a:rPr lang="en-IN" sz="1600" b="1" spc="50" dirty="0">
                <a:ln w="0"/>
                <a:solidFill>
                  <a:schemeClr val="bg1"/>
                </a:solidFill>
                <a:effectLst>
                  <a:innerShdw blurRad="63500" dist="50800" dir="13500000">
                    <a:srgbClr val="000000">
                      <a:alpha val="50000"/>
                    </a:srgbClr>
                  </a:innerShdw>
                </a:effectLst>
              </a:rPr>
              <a:t>customer </a:t>
            </a:r>
            <a:r>
              <a:rPr lang="en-IN" sz="1600" b="1" spc="50" dirty="0" err="1">
                <a:ln w="0"/>
                <a:solidFill>
                  <a:schemeClr val="bg1"/>
                </a:solidFill>
                <a:effectLst>
                  <a:innerShdw blurRad="63500" dist="50800" dir="13500000">
                    <a:srgbClr val="000000">
                      <a:alpha val="50000"/>
                    </a:srgbClr>
                  </a:innerShdw>
                </a:effectLst>
              </a:rPr>
              <a:t>cjoin</a:t>
            </a:r>
            <a:r>
              <a:rPr lang="en-IN" sz="1600" b="1" spc="50" dirty="0">
                <a:ln w="0"/>
                <a:solidFill>
                  <a:schemeClr val="bg1"/>
                </a:solidFill>
                <a:effectLst>
                  <a:innerShdw blurRad="63500" dist="50800" dir="13500000">
                    <a:srgbClr val="000000">
                      <a:alpha val="50000"/>
                    </a:srgbClr>
                  </a:innerShdw>
                </a:effectLst>
              </a:rPr>
              <a:t> booking b </a:t>
            </a:r>
          </a:p>
          <a:p>
            <a:r>
              <a:rPr lang="en-IN" sz="1600" b="1" spc="50" dirty="0">
                <a:ln w="0"/>
                <a:solidFill>
                  <a:schemeClr val="bg1"/>
                </a:solidFill>
                <a:effectLst>
                  <a:innerShdw blurRad="63500" dist="50800" dir="13500000">
                    <a:srgbClr val="000000">
                      <a:alpha val="50000"/>
                    </a:srgbClr>
                  </a:innerShdw>
                </a:effectLst>
              </a:rPr>
              <a:t>on </a:t>
            </a:r>
            <a:r>
              <a:rPr lang="en-IN" sz="1600" b="1" spc="50" dirty="0" err="1">
                <a:ln w="0"/>
                <a:solidFill>
                  <a:schemeClr val="bg1"/>
                </a:solidFill>
                <a:effectLst>
                  <a:innerShdw blurRad="63500" dist="50800" dir="13500000">
                    <a:srgbClr val="000000">
                      <a:alpha val="50000"/>
                    </a:srgbClr>
                  </a:innerShdw>
                </a:effectLst>
              </a:rPr>
              <a:t>c.customer_id</a:t>
            </a:r>
            <a:r>
              <a:rPr lang="en-IN" sz="1600" b="1" spc="50" dirty="0">
                <a:ln w="0"/>
                <a:solidFill>
                  <a:schemeClr val="bg1"/>
                </a:solidFill>
                <a:effectLst>
                  <a:innerShdw blurRad="63500" dist="50800" dir="13500000">
                    <a:srgbClr val="000000">
                      <a:alpha val="50000"/>
                    </a:srgbClr>
                  </a:innerShdw>
                </a:effectLst>
              </a:rPr>
              <a:t>=</a:t>
            </a:r>
            <a:r>
              <a:rPr lang="en-IN" sz="1600" b="1" spc="50" dirty="0" err="1">
                <a:ln w="0"/>
                <a:solidFill>
                  <a:schemeClr val="bg1"/>
                </a:solidFill>
                <a:effectLst>
                  <a:innerShdw blurRad="63500" dist="50800" dir="13500000">
                    <a:srgbClr val="000000">
                      <a:alpha val="50000"/>
                    </a:srgbClr>
                  </a:innerShdw>
                </a:effectLst>
              </a:rPr>
              <a:t>b.customer_id</a:t>
            </a:r>
            <a:r>
              <a:rPr lang="en-IN" sz="1600" b="1" spc="50" dirty="0">
                <a:ln w="0"/>
                <a:solidFill>
                  <a:schemeClr val="bg1"/>
                </a:solidFill>
                <a:effectLst>
                  <a:innerShdw blurRad="63500" dist="50800" dir="13500000">
                    <a:srgbClr val="000000">
                      <a:alpha val="50000"/>
                    </a:srgbClr>
                  </a:innerShdw>
                </a:effectLst>
              </a:rPr>
              <a:t> </a:t>
            </a:r>
          </a:p>
          <a:p>
            <a:r>
              <a:rPr lang="en-IN" sz="1600" b="1" spc="50" dirty="0">
                <a:ln w="0"/>
                <a:solidFill>
                  <a:schemeClr val="bg1"/>
                </a:solidFill>
                <a:effectLst>
                  <a:innerShdw blurRad="63500" dist="50800" dir="13500000">
                    <a:srgbClr val="000000">
                      <a:alpha val="50000"/>
                    </a:srgbClr>
                  </a:innerShdw>
                </a:effectLst>
              </a:rPr>
              <a:t>join room </a:t>
            </a:r>
            <a:r>
              <a:rPr lang="en-IN" sz="1600" b="1" spc="50" dirty="0" err="1">
                <a:ln w="0"/>
                <a:solidFill>
                  <a:schemeClr val="bg1"/>
                </a:solidFill>
                <a:effectLst>
                  <a:innerShdw blurRad="63500" dist="50800" dir="13500000">
                    <a:srgbClr val="000000">
                      <a:alpha val="50000"/>
                    </a:srgbClr>
                  </a:innerShdw>
                </a:effectLst>
              </a:rPr>
              <a:t>ron</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r.room_id</a:t>
            </a:r>
            <a:r>
              <a:rPr lang="en-IN" sz="1600" b="1" spc="50" dirty="0">
                <a:ln w="0"/>
                <a:solidFill>
                  <a:schemeClr val="bg1"/>
                </a:solidFill>
                <a:effectLst>
                  <a:innerShdw blurRad="63500" dist="50800" dir="13500000">
                    <a:srgbClr val="000000">
                      <a:alpha val="50000"/>
                    </a:srgbClr>
                  </a:innerShdw>
                </a:effectLst>
              </a:rPr>
              <a:t>=</a:t>
            </a:r>
            <a:r>
              <a:rPr lang="en-IN" sz="1600" b="1" spc="50" dirty="0" err="1">
                <a:ln w="0"/>
                <a:solidFill>
                  <a:schemeClr val="bg1"/>
                </a:solidFill>
                <a:effectLst>
                  <a:innerShdw blurRad="63500" dist="50800" dir="13500000">
                    <a:srgbClr val="000000">
                      <a:alpha val="50000"/>
                    </a:srgbClr>
                  </a:innerShdw>
                </a:effectLst>
              </a:rPr>
              <a:t>b.room_id</a:t>
            </a:r>
            <a:r>
              <a:rPr lang="en-IN" sz="1600" b="1" spc="50" dirty="0">
                <a:ln w="0"/>
                <a:solidFill>
                  <a:schemeClr val="bg1"/>
                </a:solidFill>
                <a:effectLst>
                  <a:innerShdw blurRad="63500" dist="50800" dir="13500000">
                    <a:srgbClr val="000000">
                      <a:alpha val="50000"/>
                    </a:srgbClr>
                  </a:innerShdw>
                </a:effectLst>
              </a:rPr>
              <a:t> </a:t>
            </a:r>
          </a:p>
          <a:p>
            <a:r>
              <a:rPr lang="en-IN" sz="1600" b="1" spc="50" dirty="0">
                <a:ln w="0"/>
                <a:solidFill>
                  <a:schemeClr val="bg1"/>
                </a:solidFill>
                <a:effectLst>
                  <a:innerShdw blurRad="63500" dist="50800" dir="13500000">
                    <a:srgbClr val="000000">
                      <a:alpha val="50000"/>
                    </a:srgbClr>
                  </a:innerShdw>
                </a:effectLst>
              </a:rPr>
              <a:t>join payment p </a:t>
            </a:r>
          </a:p>
          <a:p>
            <a:r>
              <a:rPr lang="en-IN" sz="1600" b="1" spc="50" dirty="0">
                <a:ln w="0"/>
                <a:solidFill>
                  <a:schemeClr val="bg1"/>
                </a:solidFill>
                <a:effectLst>
                  <a:innerShdw blurRad="63500" dist="50800" dir="13500000">
                    <a:srgbClr val="000000">
                      <a:alpha val="50000"/>
                    </a:srgbClr>
                  </a:innerShdw>
                </a:effectLst>
              </a:rPr>
              <a:t>on </a:t>
            </a:r>
            <a:r>
              <a:rPr lang="en-IN" sz="1600" b="1" spc="50" dirty="0" err="1">
                <a:ln w="0"/>
                <a:solidFill>
                  <a:schemeClr val="bg1"/>
                </a:solidFill>
                <a:effectLst>
                  <a:innerShdw blurRad="63500" dist="50800" dir="13500000">
                    <a:srgbClr val="000000">
                      <a:alpha val="50000"/>
                    </a:srgbClr>
                  </a:innerShdw>
                </a:effectLst>
              </a:rPr>
              <a:t>p.booking_id</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b.booking_id</a:t>
            </a:r>
            <a:r>
              <a:rPr lang="en-IN" sz="1600" b="1" spc="50" dirty="0">
                <a:ln w="0"/>
                <a:solidFill>
                  <a:schemeClr val="bg1"/>
                </a:solidFill>
                <a:effectLst>
                  <a:innerShdw blurRad="63500" dist="50800" dir="13500000">
                    <a:srgbClr val="000000">
                      <a:alpha val="50000"/>
                    </a:srgbClr>
                  </a:innerShdw>
                </a:effectLst>
              </a:rPr>
              <a:t> </a:t>
            </a:r>
          </a:p>
          <a:p>
            <a:r>
              <a:rPr lang="en-IN" sz="1600" b="1" spc="50" dirty="0">
                <a:ln w="0"/>
                <a:solidFill>
                  <a:schemeClr val="bg1"/>
                </a:solidFill>
                <a:effectLst>
                  <a:innerShdw blurRad="63500" dist="50800" dir="13500000">
                    <a:srgbClr val="000000">
                      <a:alpha val="50000"/>
                    </a:srgbClr>
                  </a:innerShdw>
                </a:effectLst>
              </a:rPr>
              <a:t>where </a:t>
            </a:r>
            <a:r>
              <a:rPr lang="en-IN" sz="1600" b="1" spc="50" dirty="0" err="1">
                <a:ln w="0"/>
                <a:solidFill>
                  <a:schemeClr val="bg1"/>
                </a:solidFill>
                <a:effectLst>
                  <a:innerShdw blurRad="63500" dist="50800" dir="13500000">
                    <a:srgbClr val="000000">
                      <a:alpha val="50000"/>
                    </a:srgbClr>
                  </a:innerShdw>
                </a:effectLst>
              </a:rPr>
              <a:t>room_status</a:t>
            </a:r>
            <a:r>
              <a:rPr lang="en-IN" sz="1600" b="1" spc="50" dirty="0">
                <a:ln w="0"/>
                <a:solidFill>
                  <a:schemeClr val="bg1"/>
                </a:solidFill>
                <a:effectLst>
                  <a:innerShdw blurRad="63500" dist="50800" dir="13500000">
                    <a:srgbClr val="000000">
                      <a:alpha val="50000"/>
                    </a:srgbClr>
                  </a:innerShdw>
                </a:effectLst>
              </a:rPr>
              <a:t>='booked';</a:t>
            </a:r>
          </a:p>
        </p:txBody>
      </p:sp>
      <p:pic>
        <p:nvPicPr>
          <p:cNvPr id="9" name="Picture 8">
            <a:extLst>
              <a:ext uri="{FF2B5EF4-FFF2-40B4-BE49-F238E27FC236}">
                <a16:creationId xmlns:a16="http://schemas.microsoft.com/office/drawing/2014/main" id="{97D52D88-BD38-0250-117B-57FEF60960AF}"/>
              </a:ext>
            </a:extLst>
          </p:cNvPr>
          <p:cNvPicPr>
            <a:picLocks noChangeAspect="1"/>
          </p:cNvPicPr>
          <p:nvPr/>
        </p:nvPicPr>
        <p:blipFill>
          <a:blip r:embed="rId2"/>
          <a:stretch>
            <a:fillRect/>
          </a:stretch>
        </p:blipFill>
        <p:spPr>
          <a:xfrm>
            <a:off x="639096" y="1330143"/>
            <a:ext cx="5959469" cy="4598705"/>
          </a:xfrm>
          <a:prstGeom prst="rect">
            <a:avLst/>
          </a:prstGeom>
        </p:spPr>
      </p:pic>
    </p:spTree>
    <p:extLst>
      <p:ext uri="{BB962C8B-B14F-4D97-AF65-F5344CB8AC3E}">
        <p14:creationId xmlns:p14="http://schemas.microsoft.com/office/powerpoint/2010/main" val="4080326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01BE288-F1E8-AE57-A249-6C4370A707CD}"/>
              </a:ext>
            </a:extLst>
          </p:cNvPr>
          <p:cNvSpPr/>
          <p:nvPr/>
        </p:nvSpPr>
        <p:spPr>
          <a:xfrm>
            <a:off x="1533833" y="2111477"/>
            <a:ext cx="4178709" cy="1887794"/>
          </a:xfrm>
          <a:prstGeom prst="roundRect">
            <a:avLst/>
          </a:prstGeom>
          <a:ln w="28575">
            <a:solidFill>
              <a:schemeClr val="bg1">
                <a:lumMod val="95000"/>
                <a:lumOff val="5000"/>
              </a:schemeClr>
            </a:solidFill>
          </a:ln>
          <a:effectLst>
            <a:outerShdw blurRad="76200" dist="12700" dir="8100000" sy="-23000" kx="800400" algn="br" rotWithShape="0">
              <a:prstClr val="black">
                <a:alpha val="2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4000" dirty="0"/>
              <a:t>SUBQUERY</a:t>
            </a:r>
          </a:p>
        </p:txBody>
      </p:sp>
    </p:spTree>
    <p:extLst>
      <p:ext uri="{BB962C8B-B14F-4D97-AF65-F5344CB8AC3E}">
        <p14:creationId xmlns:p14="http://schemas.microsoft.com/office/powerpoint/2010/main" val="3520536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08733E-7BBE-2CEC-7D4A-ECBC94DBFB86}"/>
              </a:ext>
            </a:extLst>
          </p:cNvPr>
          <p:cNvSpPr txBox="1">
            <a:spLocks/>
          </p:cNvSpPr>
          <p:nvPr/>
        </p:nvSpPr>
        <p:spPr>
          <a:xfrm>
            <a:off x="639096" y="196647"/>
            <a:ext cx="10913805"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Subquery</a:t>
            </a:r>
          </a:p>
          <a:p>
            <a:pPr algn="ctr"/>
            <a:endParaRPr lang="en-US" dirty="0"/>
          </a:p>
          <a:p>
            <a:pPr algn="ctr"/>
            <a:endParaRPr lang="en-IN" dirty="0"/>
          </a:p>
        </p:txBody>
      </p:sp>
      <p:sp>
        <p:nvSpPr>
          <p:cNvPr id="7" name="Title 2">
            <a:extLst>
              <a:ext uri="{FF2B5EF4-FFF2-40B4-BE49-F238E27FC236}">
                <a16:creationId xmlns:a16="http://schemas.microsoft.com/office/drawing/2014/main" id="{AE8BAFB2-5195-CF96-8CE2-5322935DBBCA}"/>
              </a:ext>
            </a:extLst>
          </p:cNvPr>
          <p:cNvSpPr txBox="1">
            <a:spLocks/>
          </p:cNvSpPr>
          <p:nvPr/>
        </p:nvSpPr>
        <p:spPr>
          <a:xfrm>
            <a:off x="6646606" y="1330144"/>
            <a:ext cx="4906296" cy="3979275"/>
          </a:xfrm>
          <a:prstGeom prst="rect">
            <a:avLst/>
          </a:prstGeom>
          <a:ln w="28575">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2000" dirty="0">
                <a:solidFill>
                  <a:schemeClr val="bg1"/>
                </a:solidFill>
              </a:rPr>
              <a:t>6.</a:t>
            </a:r>
            <a:r>
              <a:rPr lang="en-IN" sz="2000" dirty="0"/>
              <a:t> </a:t>
            </a:r>
            <a:r>
              <a:rPr lang="en-IN" sz="2000" dirty="0">
                <a:solidFill>
                  <a:schemeClr val="bg1"/>
                </a:solidFill>
              </a:rPr>
              <a:t>Display the names of customers whose amount exceeds the average spending    amount(using join).</a:t>
            </a:r>
          </a:p>
          <a:p>
            <a:endParaRPr lang="en-IN" sz="20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Query:  </a:t>
            </a:r>
            <a:r>
              <a:rPr lang="en-US" sz="1600" b="1" spc="50" dirty="0">
                <a:ln w="0"/>
                <a:solidFill>
                  <a:schemeClr val="bg1"/>
                </a:solidFill>
                <a:effectLst>
                  <a:innerShdw blurRad="63500" dist="50800" dir="13500000">
                    <a:srgbClr val="000000">
                      <a:alpha val="50000"/>
                    </a:srgbClr>
                  </a:innerShdw>
                </a:effectLst>
              </a:rPr>
              <a:t>select </a:t>
            </a:r>
            <a:r>
              <a:rPr lang="en-US" sz="1600" b="1" spc="50" dirty="0" err="1">
                <a:ln w="0"/>
                <a:solidFill>
                  <a:schemeClr val="bg1"/>
                </a:solidFill>
                <a:effectLst>
                  <a:innerShdw blurRad="63500" dist="50800" dir="13500000">
                    <a:srgbClr val="000000">
                      <a:alpha val="50000"/>
                    </a:srgbClr>
                  </a:innerShdw>
                </a:effectLst>
              </a:rPr>
              <a:t>c.first_name</a:t>
            </a:r>
            <a:r>
              <a:rPr lang="en-US" sz="1600" b="1" spc="50" dirty="0">
                <a:ln w="0"/>
                <a:solidFill>
                  <a:schemeClr val="bg1"/>
                </a:solidFill>
                <a:effectLst>
                  <a:innerShdw blurRad="63500" dist="50800" dir="13500000">
                    <a:srgbClr val="000000">
                      <a:alpha val="50000"/>
                    </a:srgbClr>
                  </a:innerShdw>
                </a:effectLst>
              </a:rPr>
              <a:t> ,  </a:t>
            </a:r>
            <a:r>
              <a:rPr lang="en-US" sz="1600" b="1" spc="50" dirty="0" err="1">
                <a:ln w="0"/>
                <a:solidFill>
                  <a:schemeClr val="bg1"/>
                </a:solidFill>
                <a:effectLst>
                  <a:innerShdw blurRad="63500" dist="50800" dir="13500000">
                    <a:srgbClr val="000000">
                      <a:alpha val="50000"/>
                    </a:srgbClr>
                  </a:innerShdw>
                </a:effectLst>
              </a:rPr>
              <a:t>c.last_name</a:t>
            </a:r>
            <a:r>
              <a:rPr lang="en-US" sz="1600" b="1" spc="50" dirty="0">
                <a:ln w="0"/>
                <a:solidFill>
                  <a:schemeClr val="bg1"/>
                </a:solidFill>
                <a:effectLst>
                  <a:innerShdw blurRad="63500" dist="50800" dir="13500000">
                    <a:srgbClr val="000000">
                      <a:alpha val="50000"/>
                    </a:srgbClr>
                  </a:innerShdw>
                </a:effectLst>
              </a:rPr>
              <a:t> , </a:t>
            </a:r>
            <a:r>
              <a:rPr lang="en-US" sz="1600" b="1" spc="50" dirty="0" err="1">
                <a:ln w="0"/>
                <a:solidFill>
                  <a:schemeClr val="bg1"/>
                </a:solidFill>
                <a:effectLst>
                  <a:innerShdw blurRad="63500" dist="50800" dir="13500000">
                    <a:srgbClr val="000000">
                      <a:alpha val="50000"/>
                    </a:srgbClr>
                  </a:innerShdw>
                </a:effectLst>
              </a:rPr>
              <a:t>b.total_amount</a:t>
            </a:r>
            <a:r>
              <a:rPr lang="en-US" sz="1600" b="1" spc="50" dirty="0">
                <a:ln w="0"/>
                <a:solidFill>
                  <a:schemeClr val="bg1"/>
                </a:solidFill>
                <a:effectLst>
                  <a:innerShdw blurRad="63500" dist="50800" dir="13500000">
                    <a:srgbClr val="000000">
                      <a:alpha val="50000"/>
                    </a:srgbClr>
                  </a:innerShdw>
                </a:effectLst>
              </a:rPr>
              <a:t> from customer c </a:t>
            </a:r>
          </a:p>
          <a:p>
            <a:r>
              <a:rPr lang="en-US" sz="1600" b="1" spc="50" dirty="0">
                <a:ln w="0"/>
                <a:solidFill>
                  <a:schemeClr val="bg1"/>
                </a:solidFill>
                <a:effectLst>
                  <a:innerShdw blurRad="63500" dist="50800" dir="13500000">
                    <a:srgbClr val="000000">
                      <a:alpha val="50000"/>
                    </a:srgbClr>
                  </a:innerShdw>
                </a:effectLst>
              </a:rPr>
              <a:t>join booking b </a:t>
            </a:r>
          </a:p>
          <a:p>
            <a:r>
              <a:rPr lang="en-US" sz="1600" b="1" spc="50" dirty="0">
                <a:ln w="0"/>
                <a:solidFill>
                  <a:schemeClr val="bg1"/>
                </a:solidFill>
                <a:effectLst>
                  <a:innerShdw blurRad="63500" dist="50800" dir="13500000">
                    <a:srgbClr val="000000">
                      <a:alpha val="50000"/>
                    </a:srgbClr>
                  </a:innerShdw>
                </a:effectLst>
              </a:rPr>
              <a:t>on </a:t>
            </a:r>
            <a:r>
              <a:rPr lang="en-US" sz="1600" b="1" spc="50" dirty="0" err="1">
                <a:ln w="0"/>
                <a:solidFill>
                  <a:schemeClr val="bg1"/>
                </a:solidFill>
                <a:effectLst>
                  <a:innerShdw blurRad="63500" dist="50800" dir="13500000">
                    <a:srgbClr val="000000">
                      <a:alpha val="50000"/>
                    </a:srgbClr>
                  </a:innerShdw>
                </a:effectLst>
              </a:rPr>
              <a:t>c.customer_id</a:t>
            </a:r>
            <a:r>
              <a:rPr lang="en-US" sz="1600" b="1" spc="50" dirty="0">
                <a:ln w="0"/>
                <a:solidFill>
                  <a:schemeClr val="bg1"/>
                </a:solidFill>
                <a:effectLst>
                  <a:innerShdw blurRad="63500" dist="50800" dir="13500000">
                    <a:srgbClr val="000000">
                      <a:alpha val="50000"/>
                    </a:srgbClr>
                  </a:innerShdw>
                </a:effectLst>
              </a:rPr>
              <a:t>=</a:t>
            </a:r>
            <a:r>
              <a:rPr lang="en-US" sz="1600" b="1" spc="50" dirty="0" err="1">
                <a:ln w="0"/>
                <a:solidFill>
                  <a:schemeClr val="bg1"/>
                </a:solidFill>
                <a:effectLst>
                  <a:innerShdw blurRad="63500" dist="50800" dir="13500000">
                    <a:srgbClr val="000000">
                      <a:alpha val="50000"/>
                    </a:srgbClr>
                  </a:innerShdw>
                </a:effectLst>
              </a:rPr>
              <a:t>b.customer_id</a:t>
            </a:r>
            <a:r>
              <a:rPr lang="en-US" sz="1600" b="1" spc="50" dirty="0">
                <a:ln w="0"/>
                <a:solidFill>
                  <a:schemeClr val="bg1"/>
                </a:solidFill>
                <a:effectLst>
                  <a:innerShdw blurRad="63500" dist="50800" dir="13500000">
                    <a:srgbClr val="000000">
                      <a:alpha val="50000"/>
                    </a:srgbClr>
                  </a:innerShdw>
                </a:effectLst>
              </a:rPr>
              <a:t> </a:t>
            </a:r>
          </a:p>
          <a:p>
            <a:r>
              <a:rPr lang="en-US" sz="1600" b="1" spc="50" dirty="0">
                <a:ln w="0"/>
                <a:solidFill>
                  <a:schemeClr val="bg1"/>
                </a:solidFill>
                <a:effectLst>
                  <a:innerShdw blurRad="63500" dist="50800" dir="13500000">
                    <a:srgbClr val="000000">
                      <a:alpha val="50000"/>
                    </a:srgbClr>
                  </a:innerShdw>
                </a:effectLst>
              </a:rPr>
              <a:t>where </a:t>
            </a:r>
            <a:r>
              <a:rPr lang="en-US" sz="1600" b="1" spc="50" dirty="0" err="1">
                <a:ln w="0"/>
                <a:solidFill>
                  <a:schemeClr val="bg1"/>
                </a:solidFill>
                <a:effectLst>
                  <a:innerShdw blurRad="63500" dist="50800" dir="13500000">
                    <a:srgbClr val="000000">
                      <a:alpha val="50000"/>
                    </a:srgbClr>
                  </a:innerShdw>
                </a:effectLst>
              </a:rPr>
              <a:t>b.total_amount</a:t>
            </a:r>
            <a:r>
              <a:rPr lang="en-US" sz="1600" b="1" spc="50" dirty="0">
                <a:ln w="0"/>
                <a:solidFill>
                  <a:schemeClr val="bg1"/>
                </a:solidFill>
                <a:effectLst>
                  <a:innerShdw blurRad="63500" dist="50800" dir="13500000">
                    <a:srgbClr val="000000">
                      <a:alpha val="50000"/>
                    </a:srgbClr>
                  </a:innerShdw>
                </a:effectLst>
              </a:rPr>
              <a:t>&gt; (select avg(</a:t>
            </a:r>
            <a:r>
              <a:rPr lang="en-US" sz="1600" b="1" spc="50" dirty="0" err="1">
                <a:ln w="0"/>
                <a:solidFill>
                  <a:schemeClr val="bg1"/>
                </a:solidFill>
                <a:effectLst>
                  <a:innerShdw blurRad="63500" dist="50800" dir="13500000">
                    <a:srgbClr val="000000">
                      <a:alpha val="50000"/>
                    </a:srgbClr>
                  </a:innerShdw>
                </a:effectLst>
              </a:rPr>
              <a:t>total_amount</a:t>
            </a:r>
            <a:r>
              <a:rPr lang="en-US" sz="1600" b="1" spc="50" dirty="0">
                <a:ln w="0"/>
                <a:solidFill>
                  <a:schemeClr val="bg1"/>
                </a:solidFill>
                <a:effectLst>
                  <a:innerShdw blurRad="63500" dist="50800" dir="13500000">
                    <a:srgbClr val="000000">
                      <a:alpha val="50000"/>
                    </a:srgbClr>
                  </a:innerShdw>
                </a:effectLst>
              </a:rPr>
              <a:t>) from booking);</a:t>
            </a:r>
            <a:endParaRPr lang="en-IN" sz="1600" b="1" spc="50" dirty="0">
              <a:ln w="0"/>
              <a:solidFill>
                <a:schemeClr val="bg1"/>
              </a:solidFill>
              <a:effectLst>
                <a:innerShdw blurRad="63500" dist="50800" dir="13500000">
                  <a:srgbClr val="000000">
                    <a:alpha val="50000"/>
                  </a:srgbClr>
                </a:innerShdw>
              </a:effectLst>
            </a:endParaRPr>
          </a:p>
        </p:txBody>
      </p:sp>
      <p:pic>
        <p:nvPicPr>
          <p:cNvPr id="9" name="Picture 8">
            <a:extLst>
              <a:ext uri="{FF2B5EF4-FFF2-40B4-BE49-F238E27FC236}">
                <a16:creationId xmlns:a16="http://schemas.microsoft.com/office/drawing/2014/main" id="{C85D5433-FC7E-3C3E-A3CD-863DB0ED56F9}"/>
              </a:ext>
            </a:extLst>
          </p:cNvPr>
          <p:cNvPicPr>
            <a:picLocks noChangeAspect="1"/>
          </p:cNvPicPr>
          <p:nvPr/>
        </p:nvPicPr>
        <p:blipFill>
          <a:blip r:embed="rId2"/>
          <a:stretch>
            <a:fillRect/>
          </a:stretch>
        </p:blipFill>
        <p:spPr>
          <a:xfrm>
            <a:off x="639095" y="1330144"/>
            <a:ext cx="5889524" cy="3994356"/>
          </a:xfrm>
          <a:prstGeom prst="rect">
            <a:avLst/>
          </a:prstGeom>
        </p:spPr>
      </p:pic>
    </p:spTree>
    <p:extLst>
      <p:ext uri="{BB962C8B-B14F-4D97-AF65-F5344CB8AC3E}">
        <p14:creationId xmlns:p14="http://schemas.microsoft.com/office/powerpoint/2010/main" val="3936155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02812B-A6B4-9A80-D13A-592F6D6A8B5A}"/>
              </a:ext>
            </a:extLst>
          </p:cNvPr>
          <p:cNvSpPr txBox="1">
            <a:spLocks/>
          </p:cNvSpPr>
          <p:nvPr/>
        </p:nvSpPr>
        <p:spPr>
          <a:xfrm>
            <a:off x="639097" y="219099"/>
            <a:ext cx="10913805"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Subquery</a:t>
            </a:r>
          </a:p>
          <a:p>
            <a:pPr algn="ctr"/>
            <a:endParaRPr lang="en-US" dirty="0"/>
          </a:p>
          <a:p>
            <a:pPr algn="ctr"/>
            <a:endParaRPr lang="en-IN" dirty="0"/>
          </a:p>
        </p:txBody>
      </p:sp>
      <p:sp>
        <p:nvSpPr>
          <p:cNvPr id="5" name="Title 2">
            <a:extLst>
              <a:ext uri="{FF2B5EF4-FFF2-40B4-BE49-F238E27FC236}">
                <a16:creationId xmlns:a16="http://schemas.microsoft.com/office/drawing/2014/main" id="{B9EF47AE-F8C2-DCB5-D20F-DF6C6CEF3E13}"/>
              </a:ext>
            </a:extLst>
          </p:cNvPr>
          <p:cNvSpPr txBox="1">
            <a:spLocks/>
          </p:cNvSpPr>
          <p:nvPr/>
        </p:nvSpPr>
        <p:spPr>
          <a:xfrm>
            <a:off x="6646606" y="1330144"/>
            <a:ext cx="4906296" cy="2514269"/>
          </a:xfrm>
          <a:prstGeom prst="rect">
            <a:avLst/>
          </a:prstGeom>
          <a:ln w="28575">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2000" dirty="0">
                <a:solidFill>
                  <a:schemeClr val="bg1"/>
                </a:solidFill>
              </a:rPr>
              <a:t>7.Display the most expensive room.</a:t>
            </a:r>
          </a:p>
          <a:p>
            <a:endParaRPr lang="en-IN" sz="20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Query:  </a:t>
            </a:r>
          </a:p>
          <a:p>
            <a:r>
              <a:rPr lang="en-US" sz="1600" b="1" spc="50" dirty="0">
                <a:ln w="0"/>
                <a:solidFill>
                  <a:schemeClr val="bg1"/>
                </a:solidFill>
                <a:effectLst>
                  <a:innerShdw blurRad="63500" dist="50800" dir="13500000">
                    <a:srgbClr val="000000">
                      <a:alpha val="50000"/>
                    </a:srgbClr>
                  </a:innerShdw>
                </a:effectLst>
              </a:rPr>
              <a:t>select </a:t>
            </a:r>
            <a:r>
              <a:rPr lang="en-US" sz="1600" b="1" spc="50" dirty="0" err="1">
                <a:ln w="0"/>
                <a:solidFill>
                  <a:schemeClr val="bg1"/>
                </a:solidFill>
                <a:effectLst>
                  <a:innerShdw blurRad="63500" dist="50800" dir="13500000">
                    <a:srgbClr val="000000">
                      <a:alpha val="50000"/>
                    </a:srgbClr>
                  </a:innerShdw>
                </a:effectLst>
              </a:rPr>
              <a:t>room_no</a:t>
            </a:r>
            <a:r>
              <a:rPr lang="en-US" sz="1600" b="1" spc="50" dirty="0">
                <a:ln w="0"/>
                <a:solidFill>
                  <a:schemeClr val="bg1"/>
                </a:solidFill>
                <a:effectLst>
                  <a:innerShdw blurRad="63500" dist="50800" dir="13500000">
                    <a:srgbClr val="000000">
                      <a:alpha val="50000"/>
                    </a:srgbClr>
                  </a:innerShdw>
                </a:effectLst>
              </a:rPr>
              <a:t> , </a:t>
            </a:r>
            <a:r>
              <a:rPr lang="en-US" sz="1600" b="1" spc="50" dirty="0" err="1">
                <a:ln w="0"/>
                <a:solidFill>
                  <a:schemeClr val="bg1"/>
                </a:solidFill>
                <a:effectLst>
                  <a:innerShdw blurRad="63500" dist="50800" dir="13500000">
                    <a:srgbClr val="000000">
                      <a:alpha val="50000"/>
                    </a:srgbClr>
                  </a:innerShdw>
                </a:effectLst>
              </a:rPr>
              <a:t>room_type</a:t>
            </a:r>
            <a:r>
              <a:rPr lang="en-US" sz="1600" b="1" spc="50" dirty="0">
                <a:ln w="0"/>
                <a:solidFill>
                  <a:schemeClr val="bg1"/>
                </a:solidFill>
                <a:effectLst>
                  <a:innerShdw blurRad="63500" dist="50800" dir="13500000">
                    <a:srgbClr val="000000">
                      <a:alpha val="50000"/>
                    </a:srgbClr>
                  </a:innerShdw>
                </a:effectLst>
              </a:rPr>
              <a:t> , </a:t>
            </a:r>
          </a:p>
          <a:p>
            <a:r>
              <a:rPr lang="en-US" sz="1600" b="1" spc="50" dirty="0" err="1">
                <a:ln w="0"/>
                <a:solidFill>
                  <a:schemeClr val="bg1"/>
                </a:solidFill>
                <a:effectLst>
                  <a:innerShdw blurRad="63500" dist="50800" dir="13500000">
                    <a:srgbClr val="000000">
                      <a:alpha val="50000"/>
                    </a:srgbClr>
                  </a:innerShdw>
                </a:effectLst>
              </a:rPr>
              <a:t>Price_per_night</a:t>
            </a:r>
            <a:r>
              <a:rPr lang="en-US" sz="1600" b="1" spc="50" dirty="0">
                <a:ln w="0"/>
                <a:solidFill>
                  <a:schemeClr val="bg1"/>
                </a:solidFill>
                <a:effectLst>
                  <a:innerShdw blurRad="63500" dist="50800" dir="13500000">
                    <a:srgbClr val="000000">
                      <a:alpha val="50000"/>
                    </a:srgbClr>
                  </a:innerShdw>
                </a:effectLst>
              </a:rPr>
              <a:t> </a:t>
            </a:r>
          </a:p>
          <a:p>
            <a:r>
              <a:rPr lang="en-US" sz="1600" b="1" spc="50" dirty="0">
                <a:ln w="0"/>
                <a:solidFill>
                  <a:schemeClr val="bg1"/>
                </a:solidFill>
                <a:effectLst>
                  <a:innerShdw blurRad="63500" dist="50800" dir="13500000">
                    <a:srgbClr val="000000">
                      <a:alpha val="50000"/>
                    </a:srgbClr>
                  </a:innerShdw>
                </a:effectLst>
              </a:rPr>
              <a:t>from room </a:t>
            </a:r>
          </a:p>
          <a:p>
            <a:r>
              <a:rPr lang="en-US" sz="1600" b="1" spc="50" dirty="0">
                <a:ln w="0"/>
                <a:solidFill>
                  <a:schemeClr val="bg1"/>
                </a:solidFill>
                <a:effectLst>
                  <a:innerShdw blurRad="63500" dist="50800" dir="13500000">
                    <a:srgbClr val="000000">
                      <a:alpha val="50000"/>
                    </a:srgbClr>
                  </a:innerShdw>
                </a:effectLst>
              </a:rPr>
              <a:t>where </a:t>
            </a:r>
            <a:r>
              <a:rPr lang="en-US" sz="1600" b="1" spc="50" dirty="0" err="1">
                <a:ln w="0"/>
                <a:solidFill>
                  <a:schemeClr val="bg1"/>
                </a:solidFill>
                <a:effectLst>
                  <a:innerShdw blurRad="63500" dist="50800" dir="13500000">
                    <a:srgbClr val="000000">
                      <a:alpha val="50000"/>
                    </a:srgbClr>
                  </a:innerShdw>
                </a:effectLst>
              </a:rPr>
              <a:t>Price_per_night</a:t>
            </a:r>
            <a:r>
              <a:rPr lang="en-US" sz="1600" b="1" spc="50" dirty="0">
                <a:ln w="0"/>
                <a:solidFill>
                  <a:schemeClr val="bg1"/>
                </a:solidFill>
                <a:effectLst>
                  <a:innerShdw blurRad="63500" dist="50800" dir="13500000">
                    <a:srgbClr val="000000">
                      <a:alpha val="50000"/>
                    </a:srgbClr>
                  </a:innerShdw>
                </a:effectLst>
              </a:rPr>
              <a:t> = </a:t>
            </a:r>
          </a:p>
          <a:p>
            <a:r>
              <a:rPr lang="en-US" sz="1600" b="1" spc="50" dirty="0">
                <a:ln w="0"/>
                <a:solidFill>
                  <a:schemeClr val="bg1"/>
                </a:solidFill>
                <a:effectLst>
                  <a:innerShdw blurRad="63500" dist="50800" dir="13500000">
                    <a:srgbClr val="000000">
                      <a:alpha val="50000"/>
                    </a:srgbClr>
                  </a:innerShdw>
                </a:effectLst>
              </a:rPr>
              <a:t>(select max(</a:t>
            </a:r>
            <a:r>
              <a:rPr lang="en-US" sz="1600" b="1" spc="50" dirty="0" err="1">
                <a:ln w="0"/>
                <a:solidFill>
                  <a:schemeClr val="bg1"/>
                </a:solidFill>
                <a:effectLst>
                  <a:innerShdw blurRad="63500" dist="50800" dir="13500000">
                    <a:srgbClr val="000000">
                      <a:alpha val="50000"/>
                    </a:srgbClr>
                  </a:innerShdw>
                </a:effectLst>
              </a:rPr>
              <a:t>price_per_night</a:t>
            </a:r>
            <a:r>
              <a:rPr lang="en-US" sz="1600" b="1" spc="50" dirty="0">
                <a:ln w="0"/>
                <a:solidFill>
                  <a:schemeClr val="bg1"/>
                </a:solidFill>
                <a:effectLst>
                  <a:innerShdw blurRad="63500" dist="50800" dir="13500000">
                    <a:srgbClr val="000000">
                      <a:alpha val="50000"/>
                    </a:srgbClr>
                  </a:innerShdw>
                </a:effectLst>
              </a:rPr>
              <a:t>) from room);</a:t>
            </a:r>
            <a:endParaRPr lang="en-IN" sz="1600" b="1" spc="50" dirty="0">
              <a:ln w="0"/>
              <a:solidFill>
                <a:schemeClr val="bg1"/>
              </a:solidFill>
              <a:effectLst>
                <a:innerShdw blurRad="63500" dist="50800" dir="13500000">
                  <a:srgbClr val="000000">
                    <a:alpha val="50000"/>
                  </a:srgbClr>
                </a:innerShdw>
              </a:effectLst>
            </a:endParaRPr>
          </a:p>
        </p:txBody>
      </p:sp>
      <p:pic>
        <p:nvPicPr>
          <p:cNvPr id="13" name="Picture 12">
            <a:extLst>
              <a:ext uri="{FF2B5EF4-FFF2-40B4-BE49-F238E27FC236}">
                <a16:creationId xmlns:a16="http://schemas.microsoft.com/office/drawing/2014/main" id="{E9DD50ED-DAD5-9B34-DD59-A5DFFB1F05AC}"/>
              </a:ext>
            </a:extLst>
          </p:cNvPr>
          <p:cNvPicPr>
            <a:picLocks noChangeAspect="1"/>
          </p:cNvPicPr>
          <p:nvPr/>
        </p:nvPicPr>
        <p:blipFill>
          <a:blip r:embed="rId2"/>
          <a:stretch>
            <a:fillRect/>
          </a:stretch>
        </p:blipFill>
        <p:spPr>
          <a:xfrm>
            <a:off x="639096" y="1330143"/>
            <a:ext cx="5899356" cy="2514269"/>
          </a:xfrm>
          <a:prstGeom prst="rect">
            <a:avLst/>
          </a:prstGeom>
        </p:spPr>
      </p:pic>
    </p:spTree>
    <p:extLst>
      <p:ext uri="{BB962C8B-B14F-4D97-AF65-F5344CB8AC3E}">
        <p14:creationId xmlns:p14="http://schemas.microsoft.com/office/powerpoint/2010/main" val="4182430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18C2D0-BAAE-F23F-E85E-DEF09120719A}"/>
              </a:ext>
            </a:extLst>
          </p:cNvPr>
          <p:cNvSpPr txBox="1">
            <a:spLocks/>
          </p:cNvSpPr>
          <p:nvPr/>
        </p:nvSpPr>
        <p:spPr>
          <a:xfrm>
            <a:off x="639097" y="219099"/>
            <a:ext cx="10913805"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Subquery</a:t>
            </a:r>
          </a:p>
          <a:p>
            <a:pPr algn="ctr"/>
            <a:endParaRPr lang="en-US" dirty="0"/>
          </a:p>
          <a:p>
            <a:pPr algn="ctr"/>
            <a:endParaRPr lang="en-IN" dirty="0"/>
          </a:p>
        </p:txBody>
      </p:sp>
      <p:sp>
        <p:nvSpPr>
          <p:cNvPr id="5" name="Title 2">
            <a:extLst>
              <a:ext uri="{FF2B5EF4-FFF2-40B4-BE49-F238E27FC236}">
                <a16:creationId xmlns:a16="http://schemas.microsoft.com/office/drawing/2014/main" id="{5A1860EE-A138-8547-921D-C3A7E40CCC0C}"/>
              </a:ext>
            </a:extLst>
          </p:cNvPr>
          <p:cNvSpPr txBox="1">
            <a:spLocks/>
          </p:cNvSpPr>
          <p:nvPr/>
        </p:nvSpPr>
        <p:spPr>
          <a:xfrm>
            <a:off x="6646606" y="1330144"/>
            <a:ext cx="4906296" cy="3979275"/>
          </a:xfrm>
          <a:prstGeom prst="rect">
            <a:avLst/>
          </a:prstGeom>
          <a:ln w="28575">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2000" dirty="0">
                <a:solidFill>
                  <a:schemeClr val="bg1"/>
                </a:solidFill>
              </a:rPr>
              <a:t>8. Identify customers who gave the highest review rating.</a:t>
            </a:r>
          </a:p>
          <a:p>
            <a:endParaRPr lang="en-IN" sz="20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Query:</a:t>
            </a:r>
          </a:p>
          <a:p>
            <a:r>
              <a:rPr lang="en-US" sz="1600" b="1" spc="50" dirty="0">
                <a:ln w="0"/>
                <a:solidFill>
                  <a:schemeClr val="bg1"/>
                </a:solidFill>
                <a:effectLst>
                  <a:innerShdw blurRad="63500" dist="50800" dir="13500000">
                    <a:srgbClr val="000000">
                      <a:alpha val="50000"/>
                    </a:srgbClr>
                  </a:innerShdw>
                </a:effectLst>
              </a:rPr>
              <a:t>select </a:t>
            </a:r>
            <a:r>
              <a:rPr lang="en-US" sz="1600" b="1" spc="50" dirty="0" err="1">
                <a:ln w="0"/>
                <a:solidFill>
                  <a:schemeClr val="bg1"/>
                </a:solidFill>
                <a:effectLst>
                  <a:innerShdw blurRad="63500" dist="50800" dir="13500000">
                    <a:srgbClr val="000000">
                      <a:alpha val="50000"/>
                    </a:srgbClr>
                  </a:innerShdw>
                </a:effectLst>
              </a:rPr>
              <a:t>c.first_name</a:t>
            </a:r>
            <a:r>
              <a:rPr lang="en-US" sz="1600" b="1" spc="50" dirty="0">
                <a:ln w="0"/>
                <a:solidFill>
                  <a:schemeClr val="bg1"/>
                </a:solidFill>
                <a:effectLst>
                  <a:innerShdw blurRad="63500" dist="50800" dir="13500000">
                    <a:srgbClr val="000000">
                      <a:alpha val="50000"/>
                    </a:srgbClr>
                  </a:innerShdw>
                </a:effectLst>
              </a:rPr>
              <a:t> , </a:t>
            </a:r>
            <a:r>
              <a:rPr lang="en-US" sz="1600" b="1" spc="50" dirty="0" err="1">
                <a:ln w="0"/>
                <a:solidFill>
                  <a:schemeClr val="bg1"/>
                </a:solidFill>
                <a:effectLst>
                  <a:innerShdw blurRad="63500" dist="50800" dir="13500000">
                    <a:srgbClr val="000000">
                      <a:alpha val="50000"/>
                    </a:srgbClr>
                  </a:innerShdw>
                </a:effectLst>
              </a:rPr>
              <a:t>c.last_name</a:t>
            </a:r>
            <a:r>
              <a:rPr lang="en-US" sz="1600" b="1" spc="50" dirty="0">
                <a:ln w="0"/>
                <a:solidFill>
                  <a:schemeClr val="bg1"/>
                </a:solidFill>
                <a:effectLst>
                  <a:innerShdw blurRad="63500" dist="50800" dir="13500000">
                    <a:srgbClr val="000000">
                      <a:alpha val="50000"/>
                    </a:srgbClr>
                  </a:innerShdw>
                </a:effectLst>
              </a:rPr>
              <a:t> , </a:t>
            </a:r>
            <a:r>
              <a:rPr lang="en-US" sz="1600" b="1" spc="50" dirty="0" err="1">
                <a:ln w="0"/>
                <a:solidFill>
                  <a:schemeClr val="bg1"/>
                </a:solidFill>
                <a:effectLst>
                  <a:innerShdw blurRad="63500" dist="50800" dir="13500000">
                    <a:srgbClr val="000000">
                      <a:alpha val="50000"/>
                    </a:srgbClr>
                  </a:innerShdw>
                </a:effectLst>
              </a:rPr>
              <a:t>r.rating</a:t>
            </a:r>
            <a:r>
              <a:rPr lang="en-US" sz="1600" b="1" spc="50" dirty="0">
                <a:ln w="0"/>
                <a:solidFill>
                  <a:schemeClr val="bg1"/>
                </a:solidFill>
                <a:effectLst>
                  <a:innerShdw blurRad="63500" dist="50800" dir="13500000">
                    <a:srgbClr val="000000">
                      <a:alpha val="50000"/>
                    </a:srgbClr>
                  </a:innerShdw>
                </a:effectLst>
              </a:rPr>
              <a:t> from customer c join review </a:t>
            </a:r>
            <a:r>
              <a:rPr lang="en-US" sz="1600" b="1" spc="50" dirty="0" err="1">
                <a:ln w="0"/>
                <a:solidFill>
                  <a:schemeClr val="bg1"/>
                </a:solidFill>
                <a:effectLst>
                  <a:innerShdw blurRad="63500" dist="50800" dir="13500000">
                    <a:srgbClr val="000000">
                      <a:alpha val="50000"/>
                    </a:srgbClr>
                  </a:innerShdw>
                </a:effectLst>
              </a:rPr>
              <a:t>ron</a:t>
            </a:r>
            <a:r>
              <a:rPr lang="en-US" sz="1600" b="1" spc="50" dirty="0">
                <a:ln w="0"/>
                <a:solidFill>
                  <a:schemeClr val="bg1"/>
                </a:solidFill>
                <a:effectLst>
                  <a:innerShdw blurRad="63500" dist="50800" dir="13500000">
                    <a:srgbClr val="000000">
                      <a:alpha val="50000"/>
                    </a:srgbClr>
                  </a:innerShdw>
                </a:effectLst>
              </a:rPr>
              <a:t> </a:t>
            </a:r>
            <a:r>
              <a:rPr lang="en-US" sz="1600" b="1" spc="50" dirty="0" err="1">
                <a:ln w="0"/>
                <a:solidFill>
                  <a:schemeClr val="bg1"/>
                </a:solidFill>
                <a:effectLst>
                  <a:innerShdw blurRad="63500" dist="50800" dir="13500000">
                    <a:srgbClr val="000000">
                      <a:alpha val="50000"/>
                    </a:srgbClr>
                  </a:innerShdw>
                </a:effectLst>
              </a:rPr>
              <a:t>c.customer_id</a:t>
            </a:r>
            <a:r>
              <a:rPr lang="en-US" sz="1600" b="1" spc="50" dirty="0">
                <a:ln w="0"/>
                <a:solidFill>
                  <a:schemeClr val="bg1"/>
                </a:solidFill>
                <a:effectLst>
                  <a:innerShdw blurRad="63500" dist="50800" dir="13500000">
                    <a:srgbClr val="000000">
                      <a:alpha val="50000"/>
                    </a:srgbClr>
                  </a:innerShdw>
                </a:effectLst>
              </a:rPr>
              <a:t> = </a:t>
            </a:r>
            <a:r>
              <a:rPr lang="en-US" sz="1600" b="1" spc="50" dirty="0" err="1">
                <a:ln w="0"/>
                <a:solidFill>
                  <a:schemeClr val="bg1"/>
                </a:solidFill>
                <a:effectLst>
                  <a:innerShdw blurRad="63500" dist="50800" dir="13500000">
                    <a:srgbClr val="000000">
                      <a:alpha val="50000"/>
                    </a:srgbClr>
                  </a:innerShdw>
                </a:effectLst>
              </a:rPr>
              <a:t>r.customer_id</a:t>
            </a:r>
            <a:r>
              <a:rPr lang="en-US" sz="1600" b="1" spc="50" dirty="0">
                <a:ln w="0"/>
                <a:solidFill>
                  <a:schemeClr val="bg1"/>
                </a:solidFill>
                <a:effectLst>
                  <a:innerShdw blurRad="63500" dist="50800" dir="13500000">
                    <a:srgbClr val="000000">
                      <a:alpha val="50000"/>
                    </a:srgbClr>
                  </a:innerShdw>
                </a:effectLst>
              </a:rPr>
              <a:t> </a:t>
            </a:r>
          </a:p>
          <a:p>
            <a:r>
              <a:rPr lang="en-US" sz="1600" b="1" spc="50" dirty="0">
                <a:ln w="0"/>
                <a:solidFill>
                  <a:schemeClr val="bg1"/>
                </a:solidFill>
                <a:effectLst>
                  <a:innerShdw blurRad="63500" dist="50800" dir="13500000">
                    <a:srgbClr val="000000">
                      <a:alpha val="50000"/>
                    </a:srgbClr>
                  </a:innerShdw>
                </a:effectLst>
              </a:rPr>
              <a:t>where </a:t>
            </a:r>
            <a:r>
              <a:rPr lang="en-US" sz="1600" b="1" spc="50" dirty="0" err="1">
                <a:ln w="0"/>
                <a:solidFill>
                  <a:schemeClr val="bg1"/>
                </a:solidFill>
                <a:effectLst>
                  <a:innerShdw blurRad="63500" dist="50800" dir="13500000">
                    <a:srgbClr val="000000">
                      <a:alpha val="50000"/>
                    </a:srgbClr>
                  </a:innerShdw>
                </a:effectLst>
              </a:rPr>
              <a:t>r.rating</a:t>
            </a:r>
            <a:r>
              <a:rPr lang="en-US" sz="1600" b="1" spc="50" dirty="0">
                <a:ln w="0"/>
                <a:solidFill>
                  <a:schemeClr val="bg1"/>
                </a:solidFill>
                <a:effectLst>
                  <a:innerShdw blurRad="63500" dist="50800" dir="13500000">
                    <a:srgbClr val="000000">
                      <a:alpha val="50000"/>
                    </a:srgbClr>
                  </a:innerShdw>
                </a:effectLst>
              </a:rPr>
              <a:t> in (select </a:t>
            </a:r>
            <a:r>
              <a:rPr lang="en-US" sz="1600" b="1" spc="50" dirty="0" err="1">
                <a:ln w="0"/>
                <a:solidFill>
                  <a:schemeClr val="bg1"/>
                </a:solidFill>
                <a:effectLst>
                  <a:innerShdw blurRad="63500" dist="50800" dir="13500000">
                    <a:srgbClr val="000000">
                      <a:alpha val="50000"/>
                    </a:srgbClr>
                  </a:innerShdw>
                </a:effectLst>
              </a:rPr>
              <a:t>customer_id</a:t>
            </a:r>
            <a:r>
              <a:rPr lang="en-US" sz="1600" b="1" spc="50" dirty="0">
                <a:ln w="0"/>
                <a:solidFill>
                  <a:schemeClr val="bg1"/>
                </a:solidFill>
                <a:effectLst>
                  <a:innerShdw blurRad="63500" dist="50800" dir="13500000">
                    <a:srgbClr val="000000">
                      <a:alpha val="50000"/>
                    </a:srgbClr>
                  </a:innerShdw>
                </a:effectLst>
              </a:rPr>
              <a:t>    from booking    where </a:t>
            </a:r>
            <a:r>
              <a:rPr lang="en-US" sz="1600" b="1" spc="50" dirty="0" err="1">
                <a:ln w="0"/>
                <a:solidFill>
                  <a:schemeClr val="bg1"/>
                </a:solidFill>
                <a:effectLst>
                  <a:innerShdw blurRad="63500" dist="50800" dir="13500000">
                    <a:srgbClr val="000000">
                      <a:alpha val="50000"/>
                    </a:srgbClr>
                  </a:innerShdw>
                </a:effectLst>
              </a:rPr>
              <a:t>booking_id</a:t>
            </a:r>
            <a:r>
              <a:rPr lang="en-US" sz="1600" b="1" spc="50" dirty="0">
                <a:ln w="0"/>
                <a:solidFill>
                  <a:schemeClr val="bg1"/>
                </a:solidFill>
                <a:effectLst>
                  <a:innerShdw blurRad="63500" dist="50800" dir="13500000">
                    <a:srgbClr val="000000">
                      <a:alpha val="50000"/>
                    </a:srgbClr>
                  </a:innerShdw>
                </a:effectLst>
              </a:rPr>
              <a:t> IN (select </a:t>
            </a:r>
            <a:r>
              <a:rPr lang="en-US" sz="1600" b="1" spc="50" dirty="0" err="1">
                <a:ln w="0"/>
                <a:solidFill>
                  <a:schemeClr val="bg1"/>
                </a:solidFill>
                <a:effectLst>
                  <a:innerShdw blurRad="63500" dist="50800" dir="13500000">
                    <a:srgbClr val="000000">
                      <a:alpha val="50000"/>
                    </a:srgbClr>
                  </a:innerShdw>
                </a:effectLst>
              </a:rPr>
              <a:t>booking_id</a:t>
            </a:r>
            <a:r>
              <a:rPr lang="en-US" sz="1600" b="1" spc="50" dirty="0">
                <a:ln w="0"/>
                <a:solidFill>
                  <a:schemeClr val="bg1"/>
                </a:solidFill>
                <a:effectLst>
                  <a:innerShdw blurRad="63500" dist="50800" dir="13500000">
                    <a:srgbClr val="000000">
                      <a:alpha val="50000"/>
                    </a:srgbClr>
                  </a:innerShdw>
                </a:effectLst>
              </a:rPr>
              <a:t> from review where rating =     (select MAX(rating)from review)));</a:t>
            </a:r>
            <a:endParaRPr lang="en-IN" sz="1600" b="1" spc="50" dirty="0">
              <a:ln w="0"/>
              <a:solidFill>
                <a:schemeClr val="bg1"/>
              </a:solidFill>
              <a:effectLst>
                <a:innerShdw blurRad="63500" dist="50800" dir="13500000">
                  <a:srgbClr val="000000">
                    <a:alpha val="50000"/>
                  </a:srgbClr>
                </a:innerShdw>
              </a:effectLst>
            </a:endParaRPr>
          </a:p>
        </p:txBody>
      </p:sp>
      <p:pic>
        <p:nvPicPr>
          <p:cNvPr id="7" name="Picture 6">
            <a:extLst>
              <a:ext uri="{FF2B5EF4-FFF2-40B4-BE49-F238E27FC236}">
                <a16:creationId xmlns:a16="http://schemas.microsoft.com/office/drawing/2014/main" id="{CEB75B31-5235-8167-6DF2-8A5693DD026D}"/>
              </a:ext>
            </a:extLst>
          </p:cNvPr>
          <p:cNvPicPr>
            <a:picLocks noChangeAspect="1"/>
          </p:cNvPicPr>
          <p:nvPr/>
        </p:nvPicPr>
        <p:blipFill>
          <a:blip r:embed="rId2"/>
          <a:stretch>
            <a:fillRect/>
          </a:stretch>
        </p:blipFill>
        <p:spPr>
          <a:xfrm>
            <a:off x="639097" y="1330144"/>
            <a:ext cx="5909186" cy="3979275"/>
          </a:xfrm>
          <a:prstGeom prst="rect">
            <a:avLst/>
          </a:prstGeom>
        </p:spPr>
      </p:pic>
    </p:spTree>
    <p:extLst>
      <p:ext uri="{BB962C8B-B14F-4D97-AF65-F5344CB8AC3E}">
        <p14:creationId xmlns:p14="http://schemas.microsoft.com/office/powerpoint/2010/main" val="2510089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B09B28-ECE0-4E70-3E00-76442C3F6C06}"/>
              </a:ext>
            </a:extLst>
          </p:cNvPr>
          <p:cNvSpPr txBox="1">
            <a:spLocks/>
          </p:cNvSpPr>
          <p:nvPr/>
        </p:nvSpPr>
        <p:spPr>
          <a:xfrm>
            <a:off x="639097" y="219099"/>
            <a:ext cx="10913805"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Subquery</a:t>
            </a:r>
          </a:p>
          <a:p>
            <a:pPr algn="ctr"/>
            <a:endParaRPr lang="en-US" dirty="0"/>
          </a:p>
          <a:p>
            <a:pPr algn="ctr"/>
            <a:endParaRPr lang="en-IN" dirty="0"/>
          </a:p>
        </p:txBody>
      </p:sp>
      <p:sp>
        <p:nvSpPr>
          <p:cNvPr id="5" name="Title 2">
            <a:extLst>
              <a:ext uri="{FF2B5EF4-FFF2-40B4-BE49-F238E27FC236}">
                <a16:creationId xmlns:a16="http://schemas.microsoft.com/office/drawing/2014/main" id="{3E06B528-0013-FA64-24EB-06E5AAF6CA33}"/>
              </a:ext>
            </a:extLst>
          </p:cNvPr>
          <p:cNvSpPr txBox="1">
            <a:spLocks/>
          </p:cNvSpPr>
          <p:nvPr/>
        </p:nvSpPr>
        <p:spPr>
          <a:xfrm>
            <a:off x="6646606" y="1330144"/>
            <a:ext cx="4906296" cy="3979275"/>
          </a:xfrm>
          <a:prstGeom prst="rect">
            <a:avLst/>
          </a:prstGeom>
          <a:ln w="28575">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2000" dirty="0">
                <a:solidFill>
                  <a:schemeClr val="bg1"/>
                </a:solidFill>
              </a:rPr>
              <a:t>9.Display the names of customers whose booking amount is greater than the booking amount of any customer who booked a Deluxe room.</a:t>
            </a:r>
            <a:endParaRPr lang="en-IN" sz="20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Query:</a:t>
            </a:r>
          </a:p>
          <a:p>
            <a:r>
              <a:rPr lang="en-US" sz="1600" b="1" spc="50" dirty="0">
                <a:ln w="0"/>
                <a:solidFill>
                  <a:schemeClr val="bg1"/>
                </a:solidFill>
                <a:effectLst>
                  <a:innerShdw blurRad="63500" dist="50800" dir="13500000">
                    <a:srgbClr val="000000">
                      <a:alpha val="50000"/>
                    </a:srgbClr>
                  </a:innerShdw>
                </a:effectLst>
              </a:rPr>
              <a:t> select    </a:t>
            </a:r>
            <a:r>
              <a:rPr lang="en-US" sz="1600" b="1" spc="50" dirty="0" err="1">
                <a:ln w="0"/>
                <a:solidFill>
                  <a:schemeClr val="bg1"/>
                </a:solidFill>
                <a:effectLst>
                  <a:innerShdw blurRad="63500" dist="50800" dir="13500000">
                    <a:srgbClr val="000000">
                      <a:alpha val="50000"/>
                    </a:srgbClr>
                  </a:innerShdw>
                </a:effectLst>
              </a:rPr>
              <a:t>c.first_name</a:t>
            </a:r>
            <a:r>
              <a:rPr lang="en-US" sz="1600" b="1" spc="50" dirty="0">
                <a:ln w="0"/>
                <a:solidFill>
                  <a:schemeClr val="bg1"/>
                </a:solidFill>
                <a:effectLst>
                  <a:innerShdw blurRad="63500" dist="50800" dir="13500000">
                    <a:srgbClr val="000000">
                      <a:alpha val="50000"/>
                    </a:srgbClr>
                  </a:innerShdw>
                </a:effectLst>
              </a:rPr>
              <a:t>,    </a:t>
            </a:r>
            <a:r>
              <a:rPr lang="en-US" sz="1600" b="1" spc="50" dirty="0" err="1">
                <a:ln w="0"/>
                <a:solidFill>
                  <a:schemeClr val="bg1"/>
                </a:solidFill>
                <a:effectLst>
                  <a:innerShdw blurRad="63500" dist="50800" dir="13500000">
                    <a:srgbClr val="000000">
                      <a:alpha val="50000"/>
                    </a:srgbClr>
                  </a:innerShdw>
                </a:effectLst>
              </a:rPr>
              <a:t>c.last_name</a:t>
            </a:r>
            <a:r>
              <a:rPr lang="en-US" sz="1600" b="1" spc="50" dirty="0">
                <a:ln w="0"/>
                <a:solidFill>
                  <a:schemeClr val="bg1"/>
                </a:solidFill>
                <a:effectLst>
                  <a:innerShdw blurRad="63500" dist="50800" dir="13500000">
                    <a:srgbClr val="000000">
                      <a:alpha val="50000"/>
                    </a:srgbClr>
                  </a:innerShdw>
                </a:effectLst>
              </a:rPr>
              <a:t>,    </a:t>
            </a:r>
            <a:r>
              <a:rPr lang="en-US" sz="1600" b="1" spc="50" dirty="0" err="1">
                <a:ln w="0"/>
                <a:solidFill>
                  <a:schemeClr val="bg1"/>
                </a:solidFill>
                <a:effectLst>
                  <a:innerShdw blurRad="63500" dist="50800" dir="13500000">
                    <a:srgbClr val="000000">
                      <a:alpha val="50000"/>
                    </a:srgbClr>
                  </a:innerShdw>
                </a:effectLst>
              </a:rPr>
              <a:t>b.total_amountfrom</a:t>
            </a:r>
            <a:r>
              <a:rPr lang="en-US" sz="1600" b="1" spc="50" dirty="0">
                <a:ln w="0"/>
                <a:solidFill>
                  <a:schemeClr val="bg1"/>
                </a:solidFill>
                <a:effectLst>
                  <a:innerShdw blurRad="63500" dist="50800" dir="13500000">
                    <a:srgbClr val="000000">
                      <a:alpha val="50000"/>
                    </a:srgbClr>
                  </a:innerShdw>
                </a:effectLst>
              </a:rPr>
              <a:t> customer </a:t>
            </a:r>
            <a:r>
              <a:rPr lang="en-US" sz="1600" b="1" spc="50" dirty="0" err="1">
                <a:ln w="0"/>
                <a:solidFill>
                  <a:schemeClr val="bg1"/>
                </a:solidFill>
                <a:effectLst>
                  <a:innerShdw blurRad="63500" dist="50800" dir="13500000">
                    <a:srgbClr val="000000">
                      <a:alpha val="50000"/>
                    </a:srgbClr>
                  </a:innerShdw>
                </a:effectLst>
              </a:rPr>
              <a:t>cjoin</a:t>
            </a:r>
            <a:r>
              <a:rPr lang="en-US" sz="1600" b="1" spc="50" dirty="0">
                <a:ln w="0"/>
                <a:solidFill>
                  <a:schemeClr val="bg1"/>
                </a:solidFill>
                <a:effectLst>
                  <a:innerShdw blurRad="63500" dist="50800" dir="13500000">
                    <a:srgbClr val="000000">
                      <a:alpha val="50000"/>
                    </a:srgbClr>
                  </a:innerShdw>
                </a:effectLst>
              </a:rPr>
              <a:t>  booking </a:t>
            </a:r>
            <a:r>
              <a:rPr lang="en-US" sz="1600" b="1" spc="50" dirty="0" err="1">
                <a:ln w="0"/>
                <a:solidFill>
                  <a:schemeClr val="bg1"/>
                </a:solidFill>
                <a:effectLst>
                  <a:innerShdw blurRad="63500" dist="50800" dir="13500000">
                    <a:srgbClr val="000000">
                      <a:alpha val="50000"/>
                    </a:srgbClr>
                  </a:innerShdw>
                </a:effectLst>
              </a:rPr>
              <a:t>bON</a:t>
            </a:r>
            <a:r>
              <a:rPr lang="en-US" sz="1600" b="1" spc="50" dirty="0">
                <a:ln w="0"/>
                <a:solidFill>
                  <a:schemeClr val="bg1"/>
                </a:solidFill>
                <a:effectLst>
                  <a:innerShdw blurRad="63500" dist="50800" dir="13500000">
                    <a:srgbClr val="000000">
                      <a:alpha val="50000"/>
                    </a:srgbClr>
                  </a:innerShdw>
                </a:effectLst>
              </a:rPr>
              <a:t> </a:t>
            </a:r>
            <a:r>
              <a:rPr lang="en-US" sz="1600" b="1" spc="50" dirty="0" err="1">
                <a:ln w="0"/>
                <a:solidFill>
                  <a:schemeClr val="bg1"/>
                </a:solidFill>
                <a:effectLst>
                  <a:innerShdw blurRad="63500" dist="50800" dir="13500000">
                    <a:srgbClr val="000000">
                      <a:alpha val="50000"/>
                    </a:srgbClr>
                  </a:innerShdw>
                </a:effectLst>
              </a:rPr>
              <a:t>c.customer_id</a:t>
            </a:r>
            <a:r>
              <a:rPr lang="en-US" sz="1600" b="1" spc="50" dirty="0">
                <a:ln w="0"/>
                <a:solidFill>
                  <a:schemeClr val="bg1"/>
                </a:solidFill>
                <a:effectLst>
                  <a:innerShdw blurRad="63500" dist="50800" dir="13500000">
                    <a:srgbClr val="000000">
                      <a:alpha val="50000"/>
                    </a:srgbClr>
                  </a:innerShdw>
                </a:effectLst>
              </a:rPr>
              <a:t> = </a:t>
            </a:r>
            <a:r>
              <a:rPr lang="en-US" sz="1600" b="1" spc="50" dirty="0" err="1">
                <a:ln w="0"/>
                <a:solidFill>
                  <a:schemeClr val="bg1"/>
                </a:solidFill>
                <a:effectLst>
                  <a:innerShdw blurRad="63500" dist="50800" dir="13500000">
                    <a:srgbClr val="000000">
                      <a:alpha val="50000"/>
                    </a:srgbClr>
                  </a:innerShdw>
                </a:effectLst>
              </a:rPr>
              <a:t>b.customer_id</a:t>
            </a:r>
            <a:endParaRPr lang="en-US" sz="1600" b="1" spc="50" dirty="0">
              <a:ln w="0"/>
              <a:solidFill>
                <a:schemeClr val="bg1"/>
              </a:solidFill>
              <a:effectLst>
                <a:innerShdw blurRad="63500" dist="50800" dir="13500000">
                  <a:srgbClr val="000000">
                    <a:alpha val="50000"/>
                  </a:srgbClr>
                </a:innerShdw>
              </a:effectLst>
            </a:endParaRPr>
          </a:p>
          <a:p>
            <a:r>
              <a:rPr lang="en-US" sz="1600" b="1" spc="50" dirty="0">
                <a:ln w="0"/>
                <a:solidFill>
                  <a:schemeClr val="bg1"/>
                </a:solidFill>
                <a:effectLst>
                  <a:innerShdw blurRad="63500" dist="50800" dir="13500000">
                    <a:srgbClr val="000000">
                      <a:alpha val="50000"/>
                    </a:srgbClr>
                  </a:innerShdw>
                </a:effectLst>
              </a:rPr>
              <a:t>where </a:t>
            </a:r>
            <a:r>
              <a:rPr lang="en-US" sz="1600" b="1" spc="50" dirty="0" err="1">
                <a:ln w="0"/>
                <a:solidFill>
                  <a:schemeClr val="bg1"/>
                </a:solidFill>
                <a:effectLst>
                  <a:innerShdw blurRad="63500" dist="50800" dir="13500000">
                    <a:srgbClr val="000000">
                      <a:alpha val="50000"/>
                    </a:srgbClr>
                  </a:innerShdw>
                </a:effectLst>
              </a:rPr>
              <a:t>b.total_amount</a:t>
            </a:r>
            <a:r>
              <a:rPr lang="en-US" sz="1600" b="1" spc="50" dirty="0">
                <a:ln w="0"/>
                <a:solidFill>
                  <a:schemeClr val="bg1"/>
                </a:solidFill>
                <a:effectLst>
                  <a:innerShdw blurRad="63500" dist="50800" dir="13500000">
                    <a:srgbClr val="000000">
                      <a:alpha val="50000"/>
                    </a:srgbClr>
                  </a:innerShdw>
                </a:effectLst>
              </a:rPr>
              <a:t> &gt; any (select </a:t>
            </a:r>
            <a:r>
              <a:rPr lang="en-US" sz="1600" b="1" spc="50" dirty="0" err="1">
                <a:ln w="0"/>
                <a:solidFill>
                  <a:schemeClr val="bg1"/>
                </a:solidFill>
                <a:effectLst>
                  <a:innerShdw blurRad="63500" dist="50800" dir="13500000">
                    <a:srgbClr val="000000">
                      <a:alpha val="50000"/>
                    </a:srgbClr>
                  </a:innerShdw>
                </a:effectLst>
              </a:rPr>
              <a:t>total_amount</a:t>
            </a:r>
            <a:r>
              <a:rPr lang="en-US" sz="1600" b="1" spc="50" dirty="0">
                <a:ln w="0"/>
                <a:solidFill>
                  <a:schemeClr val="bg1"/>
                </a:solidFill>
                <a:effectLst>
                  <a:innerShdw blurRad="63500" dist="50800" dir="13500000">
                    <a:srgbClr val="000000">
                      <a:alpha val="50000"/>
                    </a:srgbClr>
                  </a:innerShdw>
                </a:effectLst>
              </a:rPr>
              <a:t>    from booking    where </a:t>
            </a:r>
            <a:r>
              <a:rPr lang="en-US" sz="1600" b="1" spc="50" dirty="0" err="1">
                <a:ln w="0"/>
                <a:solidFill>
                  <a:schemeClr val="bg1"/>
                </a:solidFill>
                <a:effectLst>
                  <a:innerShdw blurRad="63500" dist="50800" dir="13500000">
                    <a:srgbClr val="000000">
                      <a:alpha val="50000"/>
                    </a:srgbClr>
                  </a:innerShdw>
                </a:effectLst>
              </a:rPr>
              <a:t>room_id</a:t>
            </a:r>
            <a:r>
              <a:rPr lang="en-US" sz="1600" b="1" spc="50" dirty="0">
                <a:ln w="0"/>
                <a:solidFill>
                  <a:schemeClr val="bg1"/>
                </a:solidFill>
                <a:effectLst>
                  <a:innerShdw blurRad="63500" dist="50800" dir="13500000">
                    <a:srgbClr val="000000">
                      <a:alpha val="50000"/>
                    </a:srgbClr>
                  </a:innerShdw>
                </a:effectLst>
              </a:rPr>
              <a:t> in (select </a:t>
            </a:r>
            <a:r>
              <a:rPr lang="en-US" sz="1600" b="1" spc="50" dirty="0" err="1">
                <a:ln w="0"/>
                <a:solidFill>
                  <a:schemeClr val="bg1"/>
                </a:solidFill>
                <a:effectLst>
                  <a:innerShdw blurRad="63500" dist="50800" dir="13500000">
                    <a:srgbClr val="000000">
                      <a:alpha val="50000"/>
                    </a:srgbClr>
                  </a:innerShdw>
                </a:effectLst>
              </a:rPr>
              <a:t>room_id</a:t>
            </a:r>
            <a:r>
              <a:rPr lang="en-US" sz="1600" b="1" spc="50" dirty="0">
                <a:ln w="0"/>
                <a:solidFill>
                  <a:schemeClr val="bg1"/>
                </a:solidFill>
                <a:effectLst>
                  <a:innerShdw blurRad="63500" dist="50800" dir="13500000">
                    <a:srgbClr val="000000">
                      <a:alpha val="50000"/>
                    </a:srgbClr>
                  </a:innerShdw>
                </a:effectLst>
              </a:rPr>
              <a:t>  from room where </a:t>
            </a:r>
            <a:r>
              <a:rPr lang="en-US" sz="1600" b="1" spc="50" dirty="0" err="1">
                <a:ln w="0"/>
                <a:solidFill>
                  <a:schemeClr val="bg1"/>
                </a:solidFill>
                <a:effectLst>
                  <a:innerShdw blurRad="63500" dist="50800" dir="13500000">
                    <a:srgbClr val="000000">
                      <a:alpha val="50000"/>
                    </a:srgbClr>
                  </a:innerShdw>
                </a:effectLst>
              </a:rPr>
              <a:t>room_type</a:t>
            </a:r>
            <a:r>
              <a:rPr lang="en-US" sz="1600" b="1" spc="50" dirty="0">
                <a:ln w="0"/>
                <a:solidFill>
                  <a:schemeClr val="bg1"/>
                </a:solidFill>
                <a:effectLst>
                  <a:innerShdw blurRad="63500" dist="50800" dir="13500000">
                    <a:srgbClr val="000000">
                      <a:alpha val="50000"/>
                    </a:srgbClr>
                  </a:innerShdw>
                </a:effectLst>
              </a:rPr>
              <a:t> = 'Deluxe'));</a:t>
            </a:r>
            <a:endParaRPr lang="en-IN" sz="1600" b="1" spc="50" dirty="0">
              <a:ln w="0"/>
              <a:solidFill>
                <a:schemeClr val="bg1"/>
              </a:solidFill>
              <a:effectLst>
                <a:innerShdw blurRad="63500" dist="50800" dir="13500000">
                  <a:srgbClr val="000000">
                    <a:alpha val="50000"/>
                  </a:srgbClr>
                </a:innerShdw>
              </a:effectLst>
            </a:endParaRPr>
          </a:p>
        </p:txBody>
      </p:sp>
      <p:pic>
        <p:nvPicPr>
          <p:cNvPr id="7" name="Picture 6">
            <a:extLst>
              <a:ext uri="{FF2B5EF4-FFF2-40B4-BE49-F238E27FC236}">
                <a16:creationId xmlns:a16="http://schemas.microsoft.com/office/drawing/2014/main" id="{09F33F04-B787-C0E1-016C-C0DD5711C4B3}"/>
              </a:ext>
            </a:extLst>
          </p:cNvPr>
          <p:cNvPicPr>
            <a:picLocks noChangeAspect="1"/>
          </p:cNvPicPr>
          <p:nvPr/>
        </p:nvPicPr>
        <p:blipFill>
          <a:blip r:embed="rId2"/>
          <a:stretch>
            <a:fillRect/>
          </a:stretch>
        </p:blipFill>
        <p:spPr>
          <a:xfrm>
            <a:off x="639097" y="1330144"/>
            <a:ext cx="5889522" cy="3979275"/>
          </a:xfrm>
          <a:prstGeom prst="rect">
            <a:avLst/>
          </a:prstGeom>
        </p:spPr>
      </p:pic>
    </p:spTree>
    <p:extLst>
      <p:ext uri="{BB962C8B-B14F-4D97-AF65-F5344CB8AC3E}">
        <p14:creationId xmlns:p14="http://schemas.microsoft.com/office/powerpoint/2010/main" val="1669439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0C94CDF-432E-EC56-3427-B67373EFBF10}"/>
              </a:ext>
            </a:extLst>
          </p:cNvPr>
          <p:cNvSpPr/>
          <p:nvPr/>
        </p:nvSpPr>
        <p:spPr>
          <a:xfrm>
            <a:off x="1533833" y="2111477"/>
            <a:ext cx="4178709" cy="1887794"/>
          </a:xfrm>
          <a:prstGeom prst="roundRect">
            <a:avLst/>
          </a:prstGeom>
          <a:ln w="28575">
            <a:solidFill>
              <a:schemeClr val="bg1">
                <a:lumMod val="95000"/>
                <a:lumOff val="5000"/>
              </a:schemeClr>
            </a:solidFill>
          </a:ln>
          <a:effectLst>
            <a:outerShdw blurRad="76200" dist="12700" dir="8100000" sy="-23000" kx="800400" algn="br" rotWithShape="0">
              <a:prstClr val="black">
                <a:alpha val="2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r>
              <a:rPr lang="en-US" sz="4000" dirty="0"/>
              <a:t>WINDOW</a:t>
            </a:r>
          </a:p>
          <a:p>
            <a:r>
              <a:rPr lang="en-US" sz="4000" dirty="0"/>
              <a:t>FUNCTION</a:t>
            </a:r>
          </a:p>
        </p:txBody>
      </p:sp>
    </p:spTree>
    <p:extLst>
      <p:ext uri="{BB962C8B-B14F-4D97-AF65-F5344CB8AC3E}">
        <p14:creationId xmlns:p14="http://schemas.microsoft.com/office/powerpoint/2010/main" val="969995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501C07-1F84-EE1F-9C80-5886306C7D20}"/>
              </a:ext>
            </a:extLst>
          </p:cNvPr>
          <p:cNvSpPr txBox="1">
            <a:spLocks/>
          </p:cNvSpPr>
          <p:nvPr/>
        </p:nvSpPr>
        <p:spPr>
          <a:xfrm>
            <a:off x="639097" y="219099"/>
            <a:ext cx="10913805"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Window Function</a:t>
            </a:r>
          </a:p>
          <a:p>
            <a:pPr algn="ctr"/>
            <a:endParaRPr lang="en-US" dirty="0"/>
          </a:p>
          <a:p>
            <a:pPr algn="ctr"/>
            <a:endParaRPr lang="en-IN" dirty="0"/>
          </a:p>
        </p:txBody>
      </p:sp>
      <p:sp>
        <p:nvSpPr>
          <p:cNvPr id="5" name="Title 2">
            <a:extLst>
              <a:ext uri="{FF2B5EF4-FFF2-40B4-BE49-F238E27FC236}">
                <a16:creationId xmlns:a16="http://schemas.microsoft.com/office/drawing/2014/main" id="{2C9EC9C2-B805-B8D1-E51C-3899FCBE7B01}"/>
              </a:ext>
            </a:extLst>
          </p:cNvPr>
          <p:cNvSpPr txBox="1">
            <a:spLocks/>
          </p:cNvSpPr>
          <p:nvPr/>
        </p:nvSpPr>
        <p:spPr>
          <a:xfrm>
            <a:off x="6646606" y="1330144"/>
            <a:ext cx="4906296" cy="3979275"/>
          </a:xfrm>
          <a:prstGeom prst="rect">
            <a:avLst/>
          </a:prstGeom>
          <a:ln w="28575">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2000" dirty="0">
                <a:solidFill>
                  <a:schemeClr val="bg1"/>
                </a:solidFill>
              </a:rPr>
              <a:t>10. Display customers ranked by their booking amount in descending order.</a:t>
            </a:r>
          </a:p>
          <a:p>
            <a:endParaRPr lang="en-IN" sz="1600" dirty="0"/>
          </a:p>
          <a:p>
            <a:r>
              <a:rPr lang="en-IN" sz="1600" b="1" spc="50" dirty="0">
                <a:ln w="0"/>
                <a:solidFill>
                  <a:schemeClr val="bg1"/>
                </a:solidFill>
                <a:effectLst>
                  <a:innerShdw blurRad="63500" dist="50800" dir="13500000">
                    <a:srgbClr val="000000">
                      <a:alpha val="50000"/>
                    </a:srgbClr>
                  </a:innerShdw>
                </a:effectLst>
              </a:rPr>
              <a:t>Query:</a:t>
            </a:r>
          </a:p>
          <a:p>
            <a:r>
              <a:rPr lang="en-US" sz="1600" b="1" spc="50" dirty="0">
                <a:ln w="0"/>
                <a:solidFill>
                  <a:schemeClr val="bg1"/>
                </a:solidFill>
                <a:effectLst>
                  <a:innerShdw blurRad="63500" dist="50800" dir="13500000">
                    <a:srgbClr val="000000">
                      <a:alpha val="50000"/>
                    </a:srgbClr>
                  </a:innerShdw>
                </a:effectLst>
              </a:rPr>
              <a:t>SELECT    </a:t>
            </a:r>
            <a:r>
              <a:rPr lang="en-US" sz="1600" b="1" spc="50" dirty="0" err="1">
                <a:ln w="0"/>
                <a:solidFill>
                  <a:schemeClr val="bg1"/>
                </a:solidFill>
                <a:effectLst>
                  <a:innerShdw blurRad="63500" dist="50800" dir="13500000">
                    <a:srgbClr val="000000">
                      <a:alpha val="50000"/>
                    </a:srgbClr>
                  </a:innerShdw>
                </a:effectLst>
              </a:rPr>
              <a:t>c.first_name</a:t>
            </a:r>
            <a:r>
              <a:rPr lang="en-US" sz="1600" b="1" spc="50" dirty="0">
                <a:ln w="0"/>
                <a:solidFill>
                  <a:schemeClr val="bg1"/>
                </a:solidFill>
                <a:effectLst>
                  <a:innerShdw blurRad="63500" dist="50800" dir="13500000">
                    <a:srgbClr val="000000">
                      <a:alpha val="50000"/>
                    </a:srgbClr>
                  </a:innerShdw>
                </a:effectLst>
              </a:rPr>
              <a:t>,    </a:t>
            </a:r>
            <a:r>
              <a:rPr lang="en-US" sz="1600" b="1" spc="50" dirty="0" err="1">
                <a:ln w="0"/>
                <a:solidFill>
                  <a:schemeClr val="bg1"/>
                </a:solidFill>
                <a:effectLst>
                  <a:innerShdw blurRad="63500" dist="50800" dir="13500000">
                    <a:srgbClr val="000000">
                      <a:alpha val="50000"/>
                    </a:srgbClr>
                  </a:innerShdw>
                </a:effectLst>
              </a:rPr>
              <a:t>c.last_name</a:t>
            </a:r>
            <a:r>
              <a:rPr lang="en-US" sz="1600" b="1" spc="50" dirty="0">
                <a:ln w="0"/>
                <a:solidFill>
                  <a:schemeClr val="bg1"/>
                </a:solidFill>
                <a:effectLst>
                  <a:innerShdw blurRad="63500" dist="50800" dir="13500000">
                    <a:srgbClr val="000000">
                      <a:alpha val="50000"/>
                    </a:srgbClr>
                  </a:innerShdw>
                </a:effectLst>
              </a:rPr>
              <a:t>,    </a:t>
            </a:r>
            <a:r>
              <a:rPr lang="en-US" sz="1600" b="1" spc="50" dirty="0" err="1">
                <a:ln w="0"/>
                <a:solidFill>
                  <a:schemeClr val="bg1"/>
                </a:solidFill>
                <a:effectLst>
                  <a:innerShdw blurRad="63500" dist="50800" dir="13500000">
                    <a:srgbClr val="000000">
                      <a:alpha val="50000"/>
                    </a:srgbClr>
                  </a:innerShdw>
                </a:effectLst>
              </a:rPr>
              <a:t>b.total_amount</a:t>
            </a:r>
            <a:r>
              <a:rPr lang="en-US" sz="1600" b="1" spc="50" dirty="0">
                <a:ln w="0"/>
                <a:solidFill>
                  <a:schemeClr val="bg1"/>
                </a:solidFill>
                <a:effectLst>
                  <a:innerShdw blurRad="63500" dist="50800" dir="13500000">
                    <a:srgbClr val="000000">
                      <a:alpha val="50000"/>
                    </a:srgbClr>
                  </a:innerShdw>
                </a:effectLst>
              </a:rPr>
              <a:t>,    </a:t>
            </a:r>
          </a:p>
          <a:p>
            <a:r>
              <a:rPr lang="en-US" sz="1600" b="1" spc="50" dirty="0">
                <a:ln w="0"/>
                <a:solidFill>
                  <a:schemeClr val="bg1"/>
                </a:solidFill>
                <a:effectLst>
                  <a:innerShdw blurRad="63500" dist="50800" dir="13500000">
                    <a:srgbClr val="000000">
                      <a:alpha val="50000"/>
                    </a:srgbClr>
                  </a:innerShdw>
                </a:effectLst>
              </a:rPr>
              <a:t>RANK() OVER (ORDER BY </a:t>
            </a:r>
            <a:r>
              <a:rPr lang="en-US" sz="1600" b="1" spc="50" dirty="0" err="1">
                <a:ln w="0"/>
                <a:solidFill>
                  <a:schemeClr val="bg1"/>
                </a:solidFill>
                <a:effectLst>
                  <a:innerShdw blurRad="63500" dist="50800" dir="13500000">
                    <a:srgbClr val="000000">
                      <a:alpha val="50000"/>
                    </a:srgbClr>
                  </a:innerShdw>
                </a:effectLst>
              </a:rPr>
              <a:t>b.total_amount</a:t>
            </a:r>
            <a:r>
              <a:rPr lang="en-US" sz="1600" b="1" spc="50" dirty="0">
                <a:ln w="0"/>
                <a:solidFill>
                  <a:schemeClr val="bg1"/>
                </a:solidFill>
                <a:effectLst>
                  <a:innerShdw blurRad="63500" dist="50800" dir="13500000">
                    <a:srgbClr val="000000">
                      <a:alpha val="50000"/>
                    </a:srgbClr>
                  </a:innerShdw>
                </a:effectLst>
              </a:rPr>
              <a:t> DESC) AS </a:t>
            </a:r>
            <a:r>
              <a:rPr lang="en-US" sz="1600" b="1" spc="50" dirty="0" err="1">
                <a:ln w="0"/>
                <a:solidFill>
                  <a:schemeClr val="bg1"/>
                </a:solidFill>
                <a:effectLst>
                  <a:innerShdw blurRad="63500" dist="50800" dir="13500000">
                    <a:srgbClr val="000000">
                      <a:alpha val="50000"/>
                    </a:srgbClr>
                  </a:innerShdw>
                </a:effectLst>
              </a:rPr>
              <a:t>customer_rank</a:t>
            </a:r>
            <a:r>
              <a:rPr lang="en-US" sz="1600" b="1" spc="50" dirty="0">
                <a:ln w="0"/>
                <a:solidFill>
                  <a:schemeClr val="bg1"/>
                </a:solidFill>
                <a:effectLst>
                  <a:innerShdw blurRad="63500" dist="50800" dir="13500000">
                    <a:srgbClr val="000000">
                      <a:alpha val="50000"/>
                    </a:srgbClr>
                  </a:innerShdw>
                </a:effectLst>
              </a:rPr>
              <a:t> FROM customer c JOIN booking b </a:t>
            </a:r>
          </a:p>
          <a:p>
            <a:r>
              <a:rPr lang="en-US" sz="1600" b="1" spc="50" dirty="0">
                <a:ln w="0"/>
                <a:solidFill>
                  <a:schemeClr val="bg1"/>
                </a:solidFill>
                <a:effectLst>
                  <a:innerShdw blurRad="63500" dist="50800" dir="13500000">
                    <a:srgbClr val="000000">
                      <a:alpha val="50000"/>
                    </a:srgbClr>
                  </a:innerShdw>
                </a:effectLst>
              </a:rPr>
              <a:t>ON </a:t>
            </a:r>
            <a:r>
              <a:rPr lang="en-US" sz="1600" b="1" spc="50" dirty="0" err="1">
                <a:ln w="0"/>
                <a:solidFill>
                  <a:schemeClr val="bg1"/>
                </a:solidFill>
                <a:effectLst>
                  <a:innerShdw blurRad="63500" dist="50800" dir="13500000">
                    <a:srgbClr val="000000">
                      <a:alpha val="50000"/>
                    </a:srgbClr>
                  </a:innerShdw>
                </a:effectLst>
              </a:rPr>
              <a:t>c.customer_id</a:t>
            </a:r>
            <a:r>
              <a:rPr lang="en-US" sz="1600" b="1" spc="50" dirty="0">
                <a:ln w="0"/>
                <a:solidFill>
                  <a:schemeClr val="bg1"/>
                </a:solidFill>
                <a:effectLst>
                  <a:innerShdw blurRad="63500" dist="50800" dir="13500000">
                    <a:srgbClr val="000000">
                      <a:alpha val="50000"/>
                    </a:srgbClr>
                  </a:innerShdw>
                </a:effectLst>
              </a:rPr>
              <a:t> = </a:t>
            </a:r>
            <a:r>
              <a:rPr lang="en-US" sz="1600" b="1" spc="50" dirty="0" err="1">
                <a:ln w="0"/>
                <a:solidFill>
                  <a:schemeClr val="bg1"/>
                </a:solidFill>
                <a:effectLst>
                  <a:innerShdw blurRad="63500" dist="50800" dir="13500000">
                    <a:srgbClr val="000000">
                      <a:alpha val="50000"/>
                    </a:srgbClr>
                  </a:innerShdw>
                </a:effectLst>
              </a:rPr>
              <a:t>b.customer_id</a:t>
            </a:r>
            <a:r>
              <a:rPr lang="en-US" sz="1600" b="1" spc="50" dirty="0">
                <a:ln w="0"/>
                <a:solidFill>
                  <a:schemeClr val="bg1"/>
                </a:solidFill>
                <a:effectLst>
                  <a:innerShdw blurRad="63500" dist="50800" dir="13500000">
                    <a:srgbClr val="000000">
                      <a:alpha val="50000"/>
                    </a:srgbClr>
                  </a:innerShdw>
                </a:effectLst>
              </a:rPr>
              <a:t>;</a:t>
            </a:r>
            <a:endParaRPr lang="en-IN" sz="1600" b="1" spc="50" dirty="0">
              <a:ln w="0"/>
              <a:solidFill>
                <a:schemeClr val="bg1"/>
              </a:solidFill>
              <a:effectLst>
                <a:innerShdw blurRad="63500" dist="50800" dir="13500000">
                  <a:srgbClr val="000000">
                    <a:alpha val="50000"/>
                  </a:srgbClr>
                </a:innerShdw>
              </a:effectLst>
            </a:endParaRPr>
          </a:p>
        </p:txBody>
      </p:sp>
      <p:pic>
        <p:nvPicPr>
          <p:cNvPr id="9" name="Picture 8">
            <a:extLst>
              <a:ext uri="{FF2B5EF4-FFF2-40B4-BE49-F238E27FC236}">
                <a16:creationId xmlns:a16="http://schemas.microsoft.com/office/drawing/2014/main" id="{98F83071-261D-CFAD-6310-79892BB34CCF}"/>
              </a:ext>
            </a:extLst>
          </p:cNvPr>
          <p:cNvPicPr>
            <a:picLocks noChangeAspect="1"/>
          </p:cNvPicPr>
          <p:nvPr/>
        </p:nvPicPr>
        <p:blipFill>
          <a:blip r:embed="rId2"/>
          <a:stretch>
            <a:fillRect/>
          </a:stretch>
        </p:blipFill>
        <p:spPr>
          <a:xfrm>
            <a:off x="639097" y="1330144"/>
            <a:ext cx="5909187" cy="3979275"/>
          </a:xfrm>
          <a:prstGeom prst="rect">
            <a:avLst/>
          </a:prstGeom>
        </p:spPr>
      </p:pic>
    </p:spTree>
    <p:extLst>
      <p:ext uri="{BB962C8B-B14F-4D97-AF65-F5344CB8AC3E}">
        <p14:creationId xmlns:p14="http://schemas.microsoft.com/office/powerpoint/2010/main" val="4255465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7BE67B97-6EA8-FFF2-32A8-DE601CE9A988}"/>
              </a:ext>
            </a:extLst>
          </p:cNvPr>
          <p:cNvSpPr txBox="1">
            <a:spLocks/>
          </p:cNvSpPr>
          <p:nvPr/>
        </p:nvSpPr>
        <p:spPr>
          <a:xfrm>
            <a:off x="639097" y="219099"/>
            <a:ext cx="10913805"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Window Function</a:t>
            </a:r>
          </a:p>
          <a:p>
            <a:pPr algn="ctr"/>
            <a:endParaRPr lang="en-US" dirty="0"/>
          </a:p>
          <a:p>
            <a:pPr algn="ctr"/>
            <a:endParaRPr lang="en-IN" dirty="0"/>
          </a:p>
        </p:txBody>
      </p:sp>
      <p:sp>
        <p:nvSpPr>
          <p:cNvPr id="7" name="Title 2">
            <a:extLst>
              <a:ext uri="{FF2B5EF4-FFF2-40B4-BE49-F238E27FC236}">
                <a16:creationId xmlns:a16="http://schemas.microsoft.com/office/drawing/2014/main" id="{D819C9DA-49BD-199A-FE51-14EA0D178130}"/>
              </a:ext>
            </a:extLst>
          </p:cNvPr>
          <p:cNvSpPr txBox="1">
            <a:spLocks/>
          </p:cNvSpPr>
          <p:nvPr/>
        </p:nvSpPr>
        <p:spPr>
          <a:xfrm>
            <a:off x="6646606" y="1330144"/>
            <a:ext cx="4906296" cy="3979275"/>
          </a:xfrm>
          <a:prstGeom prst="rect">
            <a:avLst/>
          </a:prstGeom>
          <a:ln w="28575">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2000" dirty="0">
                <a:solidFill>
                  <a:schemeClr val="bg1"/>
                </a:solidFill>
              </a:rPr>
              <a:t>11. Assign a serial number to each booking based on the booking date.</a:t>
            </a:r>
          </a:p>
          <a:p>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Query:</a:t>
            </a:r>
          </a:p>
          <a:p>
            <a:r>
              <a:rPr lang="en-US" sz="1600" b="1" spc="50" dirty="0">
                <a:ln w="0"/>
                <a:solidFill>
                  <a:schemeClr val="bg1"/>
                </a:solidFill>
                <a:effectLst>
                  <a:innerShdw blurRad="63500" dist="50800" dir="13500000">
                    <a:srgbClr val="000000">
                      <a:alpha val="50000"/>
                    </a:srgbClr>
                  </a:innerShdw>
                </a:effectLst>
              </a:rPr>
              <a:t>SELECT   </a:t>
            </a:r>
            <a:r>
              <a:rPr lang="en-US" sz="1600" b="1" spc="50" dirty="0" err="1">
                <a:ln w="0"/>
                <a:solidFill>
                  <a:schemeClr val="bg1"/>
                </a:solidFill>
                <a:effectLst>
                  <a:innerShdw blurRad="63500" dist="50800" dir="13500000">
                    <a:srgbClr val="000000">
                      <a:alpha val="50000"/>
                    </a:srgbClr>
                  </a:innerShdw>
                </a:effectLst>
              </a:rPr>
              <a:t>booking_id</a:t>
            </a:r>
            <a:r>
              <a:rPr lang="en-US" sz="1600" b="1" spc="50" dirty="0">
                <a:ln w="0"/>
                <a:solidFill>
                  <a:schemeClr val="bg1"/>
                </a:solidFill>
                <a:effectLst>
                  <a:innerShdw blurRad="63500" dist="50800" dir="13500000">
                    <a:srgbClr val="000000">
                      <a:alpha val="50000"/>
                    </a:srgbClr>
                  </a:innerShdw>
                </a:effectLst>
              </a:rPr>
              <a:t>,    </a:t>
            </a:r>
            <a:r>
              <a:rPr lang="en-US" sz="1600" b="1" spc="50" dirty="0" err="1">
                <a:ln w="0"/>
                <a:solidFill>
                  <a:schemeClr val="bg1"/>
                </a:solidFill>
                <a:effectLst>
                  <a:innerShdw blurRad="63500" dist="50800" dir="13500000">
                    <a:srgbClr val="000000">
                      <a:alpha val="50000"/>
                    </a:srgbClr>
                  </a:innerShdw>
                </a:effectLst>
              </a:rPr>
              <a:t>booking_date</a:t>
            </a:r>
            <a:r>
              <a:rPr lang="en-US" sz="1600" b="1" spc="50" dirty="0">
                <a:ln w="0"/>
                <a:solidFill>
                  <a:schemeClr val="bg1"/>
                </a:solidFill>
                <a:effectLst>
                  <a:innerShdw blurRad="63500" dist="50800" dir="13500000">
                    <a:srgbClr val="000000">
                      <a:alpha val="50000"/>
                    </a:srgbClr>
                  </a:innerShdw>
                </a:effectLst>
              </a:rPr>
              <a:t>,    </a:t>
            </a:r>
            <a:r>
              <a:rPr lang="en-US" sz="1600" b="1" spc="50" dirty="0" err="1">
                <a:ln w="0"/>
                <a:solidFill>
                  <a:schemeClr val="bg1"/>
                </a:solidFill>
                <a:effectLst>
                  <a:innerShdw blurRad="63500" dist="50800" dir="13500000">
                    <a:srgbClr val="000000">
                      <a:alpha val="50000"/>
                    </a:srgbClr>
                  </a:innerShdw>
                </a:effectLst>
              </a:rPr>
              <a:t>total_amount</a:t>
            </a:r>
            <a:r>
              <a:rPr lang="en-US" sz="1600" b="1" spc="50" dirty="0">
                <a:ln w="0"/>
                <a:solidFill>
                  <a:schemeClr val="bg1"/>
                </a:solidFill>
                <a:effectLst>
                  <a:innerShdw blurRad="63500" dist="50800" dir="13500000">
                    <a:srgbClr val="000000">
                      <a:alpha val="50000"/>
                    </a:srgbClr>
                  </a:innerShdw>
                </a:effectLst>
              </a:rPr>
              <a:t>,    </a:t>
            </a:r>
          </a:p>
          <a:p>
            <a:r>
              <a:rPr lang="en-US" sz="1600" b="1" spc="50" dirty="0">
                <a:ln w="0"/>
                <a:solidFill>
                  <a:schemeClr val="bg1"/>
                </a:solidFill>
                <a:effectLst>
                  <a:innerShdw blurRad="63500" dist="50800" dir="13500000">
                    <a:srgbClr val="000000">
                      <a:alpha val="50000"/>
                    </a:srgbClr>
                  </a:innerShdw>
                </a:effectLst>
              </a:rPr>
              <a:t>ROW_NUMBER()</a:t>
            </a:r>
          </a:p>
          <a:p>
            <a:r>
              <a:rPr lang="en-US" sz="1600" b="1" spc="50" dirty="0">
                <a:ln w="0"/>
                <a:solidFill>
                  <a:schemeClr val="bg1"/>
                </a:solidFill>
                <a:effectLst>
                  <a:innerShdw blurRad="63500" dist="50800" dir="13500000">
                    <a:srgbClr val="000000">
                      <a:alpha val="50000"/>
                    </a:srgbClr>
                  </a:innerShdw>
                </a:effectLst>
              </a:rPr>
              <a:t> OVER (ORDER BY </a:t>
            </a:r>
            <a:r>
              <a:rPr lang="en-US" sz="1600" b="1" spc="50" dirty="0" err="1">
                <a:ln w="0"/>
                <a:solidFill>
                  <a:schemeClr val="bg1"/>
                </a:solidFill>
                <a:effectLst>
                  <a:innerShdw blurRad="63500" dist="50800" dir="13500000">
                    <a:srgbClr val="000000">
                      <a:alpha val="50000"/>
                    </a:srgbClr>
                  </a:innerShdw>
                </a:effectLst>
              </a:rPr>
              <a:t>booking_date</a:t>
            </a:r>
            <a:r>
              <a:rPr lang="en-US" sz="1600" b="1" spc="50" dirty="0">
                <a:ln w="0"/>
                <a:solidFill>
                  <a:schemeClr val="bg1"/>
                </a:solidFill>
                <a:effectLst>
                  <a:innerShdw blurRad="63500" dist="50800" dir="13500000">
                    <a:srgbClr val="000000">
                      <a:alpha val="50000"/>
                    </a:srgbClr>
                  </a:innerShdw>
                </a:effectLst>
              </a:rPr>
              <a:t>) </a:t>
            </a:r>
          </a:p>
          <a:p>
            <a:r>
              <a:rPr lang="en-US" sz="1600" b="1" spc="50" dirty="0">
                <a:ln w="0"/>
                <a:solidFill>
                  <a:schemeClr val="bg1"/>
                </a:solidFill>
                <a:effectLst>
                  <a:innerShdw blurRad="63500" dist="50800" dir="13500000">
                    <a:srgbClr val="000000">
                      <a:alpha val="50000"/>
                    </a:srgbClr>
                  </a:innerShdw>
                </a:effectLst>
              </a:rPr>
              <a:t>AS </a:t>
            </a:r>
            <a:r>
              <a:rPr lang="en-US" sz="1600" b="1" spc="50" dirty="0" err="1">
                <a:ln w="0"/>
                <a:solidFill>
                  <a:schemeClr val="bg1"/>
                </a:solidFill>
                <a:effectLst>
                  <a:innerShdw blurRad="63500" dist="50800" dir="13500000">
                    <a:srgbClr val="000000">
                      <a:alpha val="50000"/>
                    </a:srgbClr>
                  </a:innerShdw>
                </a:effectLst>
              </a:rPr>
              <a:t>serial_no</a:t>
            </a:r>
            <a:r>
              <a:rPr lang="en-US" sz="1600" b="1" spc="50" dirty="0">
                <a:ln w="0"/>
                <a:solidFill>
                  <a:schemeClr val="bg1"/>
                </a:solidFill>
                <a:effectLst>
                  <a:innerShdw blurRad="63500" dist="50800" dir="13500000">
                    <a:srgbClr val="000000">
                      <a:alpha val="50000"/>
                    </a:srgbClr>
                  </a:innerShdw>
                </a:effectLst>
              </a:rPr>
              <a:t> FROM booking;</a:t>
            </a:r>
            <a:endParaRPr lang="en-IN" sz="1600" b="1" spc="50" dirty="0">
              <a:ln w="0"/>
              <a:solidFill>
                <a:schemeClr val="bg1"/>
              </a:solidFill>
              <a:effectLst>
                <a:innerShdw blurRad="63500" dist="50800" dir="13500000">
                  <a:srgbClr val="000000">
                    <a:alpha val="50000"/>
                  </a:srgbClr>
                </a:innerShdw>
              </a:effectLst>
            </a:endParaRPr>
          </a:p>
        </p:txBody>
      </p:sp>
      <p:pic>
        <p:nvPicPr>
          <p:cNvPr id="4" name="Picture 3">
            <a:extLst>
              <a:ext uri="{FF2B5EF4-FFF2-40B4-BE49-F238E27FC236}">
                <a16:creationId xmlns:a16="http://schemas.microsoft.com/office/drawing/2014/main" id="{90422790-DF74-2649-56FC-A388AD1F939C}"/>
              </a:ext>
            </a:extLst>
          </p:cNvPr>
          <p:cNvPicPr>
            <a:picLocks noChangeAspect="1"/>
          </p:cNvPicPr>
          <p:nvPr/>
        </p:nvPicPr>
        <p:blipFill>
          <a:blip r:embed="rId2"/>
          <a:stretch>
            <a:fillRect/>
          </a:stretch>
        </p:blipFill>
        <p:spPr>
          <a:xfrm>
            <a:off x="639096" y="1330143"/>
            <a:ext cx="5901437" cy="3979275"/>
          </a:xfrm>
          <a:prstGeom prst="rect">
            <a:avLst/>
          </a:prstGeom>
          <a:ln w="12700">
            <a:solidFill>
              <a:schemeClr val="bg1"/>
            </a:solidFill>
          </a:ln>
        </p:spPr>
      </p:pic>
    </p:spTree>
    <p:extLst>
      <p:ext uri="{BB962C8B-B14F-4D97-AF65-F5344CB8AC3E}">
        <p14:creationId xmlns:p14="http://schemas.microsoft.com/office/powerpoint/2010/main" val="1556864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A72BD3-1EC3-C546-BE1A-785B243702FC}"/>
              </a:ext>
            </a:extLst>
          </p:cNvPr>
          <p:cNvPicPr>
            <a:picLocks noChangeAspect="1"/>
          </p:cNvPicPr>
          <p:nvPr/>
        </p:nvPicPr>
        <p:blipFill>
          <a:blip r:embed="rId2"/>
          <a:stretch>
            <a:fillRect/>
          </a:stretch>
        </p:blipFill>
        <p:spPr>
          <a:xfrm>
            <a:off x="639097" y="1321594"/>
            <a:ext cx="5879690" cy="3979275"/>
          </a:xfrm>
          <a:prstGeom prst="rect">
            <a:avLst/>
          </a:prstGeom>
        </p:spPr>
      </p:pic>
      <p:sp>
        <p:nvSpPr>
          <p:cNvPr id="5" name="Title 2">
            <a:extLst>
              <a:ext uri="{FF2B5EF4-FFF2-40B4-BE49-F238E27FC236}">
                <a16:creationId xmlns:a16="http://schemas.microsoft.com/office/drawing/2014/main" id="{7EC3545A-DBB9-4864-238E-103E7CE02FA8}"/>
              </a:ext>
            </a:extLst>
          </p:cNvPr>
          <p:cNvSpPr txBox="1">
            <a:spLocks/>
          </p:cNvSpPr>
          <p:nvPr/>
        </p:nvSpPr>
        <p:spPr>
          <a:xfrm>
            <a:off x="639097" y="219099"/>
            <a:ext cx="10913805"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Window Function</a:t>
            </a:r>
          </a:p>
          <a:p>
            <a:pPr algn="ctr"/>
            <a:endParaRPr lang="en-US" dirty="0"/>
          </a:p>
          <a:p>
            <a:pPr algn="ctr"/>
            <a:endParaRPr lang="en-IN" dirty="0"/>
          </a:p>
        </p:txBody>
      </p:sp>
      <p:sp>
        <p:nvSpPr>
          <p:cNvPr id="9" name="Title 2">
            <a:extLst>
              <a:ext uri="{FF2B5EF4-FFF2-40B4-BE49-F238E27FC236}">
                <a16:creationId xmlns:a16="http://schemas.microsoft.com/office/drawing/2014/main" id="{6C3FDAD3-2ABF-64EC-EF31-FFC4F51DE107}"/>
              </a:ext>
            </a:extLst>
          </p:cNvPr>
          <p:cNvSpPr txBox="1">
            <a:spLocks/>
          </p:cNvSpPr>
          <p:nvPr/>
        </p:nvSpPr>
        <p:spPr>
          <a:xfrm>
            <a:off x="6646606" y="1330144"/>
            <a:ext cx="4906296" cy="3979275"/>
          </a:xfrm>
          <a:prstGeom prst="rect">
            <a:avLst/>
          </a:prstGeom>
          <a:ln w="28575">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2000" dirty="0">
                <a:solidFill>
                  <a:schemeClr val="bg1"/>
                </a:solidFill>
              </a:rPr>
              <a:t>14.Display customers ranked by their booking amount in descending order.</a:t>
            </a:r>
          </a:p>
          <a:p>
            <a:endParaRPr lang="en-IN" sz="1600" dirty="0"/>
          </a:p>
          <a:p>
            <a:r>
              <a:rPr lang="en-IN" sz="1600" b="1" spc="50" dirty="0">
                <a:ln w="0"/>
                <a:solidFill>
                  <a:schemeClr val="bg1"/>
                </a:solidFill>
                <a:effectLst>
                  <a:innerShdw blurRad="63500" dist="50800" dir="13500000">
                    <a:srgbClr val="000000">
                      <a:alpha val="50000"/>
                    </a:srgbClr>
                  </a:innerShdw>
                </a:effectLst>
              </a:rPr>
              <a:t>Query:</a:t>
            </a:r>
          </a:p>
          <a:p>
            <a:r>
              <a:rPr lang="en-US" sz="1600" b="1" spc="50" dirty="0">
                <a:ln w="0"/>
                <a:solidFill>
                  <a:schemeClr val="bg1"/>
                </a:solidFill>
                <a:effectLst>
                  <a:innerShdw blurRad="63500" dist="50800" dir="13500000">
                    <a:srgbClr val="000000">
                      <a:alpha val="50000"/>
                    </a:srgbClr>
                  </a:innerShdw>
                </a:effectLst>
              </a:rPr>
              <a:t>SELECT    </a:t>
            </a:r>
            <a:r>
              <a:rPr lang="en-US" sz="1600" b="1" spc="50" dirty="0" err="1">
                <a:ln w="0"/>
                <a:solidFill>
                  <a:schemeClr val="bg1"/>
                </a:solidFill>
                <a:effectLst>
                  <a:innerShdw blurRad="63500" dist="50800" dir="13500000">
                    <a:srgbClr val="000000">
                      <a:alpha val="50000"/>
                    </a:srgbClr>
                  </a:innerShdw>
                </a:effectLst>
              </a:rPr>
              <a:t>c.first_name</a:t>
            </a:r>
            <a:r>
              <a:rPr lang="en-US" sz="1600" b="1" spc="50" dirty="0">
                <a:ln w="0"/>
                <a:solidFill>
                  <a:schemeClr val="bg1"/>
                </a:solidFill>
                <a:effectLst>
                  <a:innerShdw blurRad="63500" dist="50800" dir="13500000">
                    <a:srgbClr val="000000">
                      <a:alpha val="50000"/>
                    </a:srgbClr>
                  </a:innerShdw>
                </a:effectLst>
              </a:rPr>
              <a:t>,    </a:t>
            </a:r>
            <a:r>
              <a:rPr lang="en-US" sz="1600" b="1" spc="50" dirty="0" err="1">
                <a:ln w="0"/>
                <a:solidFill>
                  <a:schemeClr val="bg1"/>
                </a:solidFill>
                <a:effectLst>
                  <a:innerShdw blurRad="63500" dist="50800" dir="13500000">
                    <a:srgbClr val="000000">
                      <a:alpha val="50000"/>
                    </a:srgbClr>
                  </a:innerShdw>
                </a:effectLst>
              </a:rPr>
              <a:t>c.last_name</a:t>
            </a:r>
            <a:r>
              <a:rPr lang="en-US" sz="1600" b="1" spc="50" dirty="0">
                <a:ln w="0"/>
                <a:solidFill>
                  <a:schemeClr val="bg1"/>
                </a:solidFill>
                <a:effectLst>
                  <a:innerShdw blurRad="63500" dist="50800" dir="13500000">
                    <a:srgbClr val="000000">
                      <a:alpha val="50000"/>
                    </a:srgbClr>
                  </a:innerShdw>
                </a:effectLst>
              </a:rPr>
              <a:t>,    </a:t>
            </a:r>
            <a:r>
              <a:rPr lang="en-US" sz="1600" b="1" spc="50" dirty="0" err="1">
                <a:ln w="0"/>
                <a:solidFill>
                  <a:schemeClr val="bg1"/>
                </a:solidFill>
                <a:effectLst>
                  <a:innerShdw blurRad="63500" dist="50800" dir="13500000">
                    <a:srgbClr val="000000">
                      <a:alpha val="50000"/>
                    </a:srgbClr>
                  </a:innerShdw>
                </a:effectLst>
              </a:rPr>
              <a:t>b.total_amount</a:t>
            </a:r>
            <a:r>
              <a:rPr lang="en-US" sz="1600" b="1" spc="50" dirty="0">
                <a:ln w="0"/>
                <a:solidFill>
                  <a:schemeClr val="bg1"/>
                </a:solidFill>
                <a:effectLst>
                  <a:innerShdw blurRad="63500" dist="50800" dir="13500000">
                    <a:srgbClr val="000000">
                      <a:alpha val="50000"/>
                    </a:srgbClr>
                  </a:innerShdw>
                </a:effectLst>
              </a:rPr>
              <a:t>,    </a:t>
            </a:r>
          </a:p>
          <a:p>
            <a:r>
              <a:rPr lang="en-US" sz="1600" b="1" spc="50" dirty="0" err="1">
                <a:ln w="0"/>
                <a:solidFill>
                  <a:schemeClr val="bg1"/>
                </a:solidFill>
                <a:effectLst>
                  <a:innerShdw blurRad="63500" dist="50800" dir="13500000">
                    <a:srgbClr val="000000">
                      <a:alpha val="50000"/>
                    </a:srgbClr>
                  </a:innerShdw>
                </a:effectLst>
              </a:rPr>
              <a:t>Dense_RANK</a:t>
            </a:r>
            <a:r>
              <a:rPr lang="en-US" sz="1600" b="1" spc="50" dirty="0">
                <a:ln w="0"/>
                <a:solidFill>
                  <a:schemeClr val="bg1"/>
                </a:solidFill>
                <a:effectLst>
                  <a:innerShdw blurRad="63500" dist="50800" dir="13500000">
                    <a:srgbClr val="000000">
                      <a:alpha val="50000"/>
                    </a:srgbClr>
                  </a:innerShdw>
                </a:effectLst>
              </a:rPr>
              <a:t>() OVER (ORDER BY </a:t>
            </a:r>
            <a:r>
              <a:rPr lang="en-US" sz="1600" b="1" spc="50" dirty="0" err="1">
                <a:ln w="0"/>
                <a:solidFill>
                  <a:schemeClr val="bg1"/>
                </a:solidFill>
                <a:effectLst>
                  <a:innerShdw blurRad="63500" dist="50800" dir="13500000">
                    <a:srgbClr val="000000">
                      <a:alpha val="50000"/>
                    </a:srgbClr>
                  </a:innerShdw>
                </a:effectLst>
              </a:rPr>
              <a:t>b.total_amount</a:t>
            </a:r>
            <a:r>
              <a:rPr lang="en-US" sz="1600" b="1" spc="50" dirty="0">
                <a:ln w="0"/>
                <a:solidFill>
                  <a:schemeClr val="bg1"/>
                </a:solidFill>
                <a:effectLst>
                  <a:innerShdw blurRad="63500" dist="50800" dir="13500000">
                    <a:srgbClr val="000000">
                      <a:alpha val="50000"/>
                    </a:srgbClr>
                  </a:innerShdw>
                </a:effectLst>
              </a:rPr>
              <a:t> DESC) AS </a:t>
            </a:r>
            <a:r>
              <a:rPr lang="en-US" sz="1600" b="1" spc="50" dirty="0" err="1">
                <a:ln w="0"/>
                <a:solidFill>
                  <a:schemeClr val="bg1"/>
                </a:solidFill>
                <a:effectLst>
                  <a:innerShdw blurRad="63500" dist="50800" dir="13500000">
                    <a:srgbClr val="000000">
                      <a:alpha val="50000"/>
                    </a:srgbClr>
                  </a:innerShdw>
                </a:effectLst>
              </a:rPr>
              <a:t>customer_rank</a:t>
            </a:r>
            <a:r>
              <a:rPr lang="en-US" sz="1600" b="1" spc="50" dirty="0">
                <a:ln w="0"/>
                <a:solidFill>
                  <a:schemeClr val="bg1"/>
                </a:solidFill>
                <a:effectLst>
                  <a:innerShdw blurRad="63500" dist="50800" dir="13500000">
                    <a:srgbClr val="000000">
                      <a:alpha val="50000"/>
                    </a:srgbClr>
                  </a:innerShdw>
                </a:effectLst>
              </a:rPr>
              <a:t> FROM customer c JOIN booking b </a:t>
            </a:r>
          </a:p>
          <a:p>
            <a:r>
              <a:rPr lang="en-US" sz="1600" b="1" spc="50" dirty="0">
                <a:ln w="0"/>
                <a:solidFill>
                  <a:schemeClr val="bg1"/>
                </a:solidFill>
                <a:effectLst>
                  <a:innerShdw blurRad="63500" dist="50800" dir="13500000">
                    <a:srgbClr val="000000">
                      <a:alpha val="50000"/>
                    </a:srgbClr>
                  </a:innerShdw>
                </a:effectLst>
              </a:rPr>
              <a:t>ON </a:t>
            </a:r>
            <a:r>
              <a:rPr lang="en-US" sz="1600" b="1" spc="50" dirty="0" err="1">
                <a:ln w="0"/>
                <a:solidFill>
                  <a:schemeClr val="bg1"/>
                </a:solidFill>
                <a:effectLst>
                  <a:innerShdw blurRad="63500" dist="50800" dir="13500000">
                    <a:srgbClr val="000000">
                      <a:alpha val="50000"/>
                    </a:srgbClr>
                  </a:innerShdw>
                </a:effectLst>
              </a:rPr>
              <a:t>c.customer_id</a:t>
            </a:r>
            <a:r>
              <a:rPr lang="en-US" sz="1600" b="1" spc="50" dirty="0">
                <a:ln w="0"/>
                <a:solidFill>
                  <a:schemeClr val="bg1"/>
                </a:solidFill>
                <a:effectLst>
                  <a:innerShdw blurRad="63500" dist="50800" dir="13500000">
                    <a:srgbClr val="000000">
                      <a:alpha val="50000"/>
                    </a:srgbClr>
                  </a:innerShdw>
                </a:effectLst>
              </a:rPr>
              <a:t> = </a:t>
            </a:r>
            <a:r>
              <a:rPr lang="en-US" sz="1600" b="1" spc="50" dirty="0" err="1">
                <a:ln w="0"/>
                <a:solidFill>
                  <a:schemeClr val="bg1"/>
                </a:solidFill>
                <a:effectLst>
                  <a:innerShdw blurRad="63500" dist="50800" dir="13500000">
                    <a:srgbClr val="000000">
                      <a:alpha val="50000"/>
                    </a:srgbClr>
                  </a:innerShdw>
                </a:effectLst>
              </a:rPr>
              <a:t>b.customer_id</a:t>
            </a:r>
            <a:r>
              <a:rPr lang="en-US" sz="1600" b="1" spc="50" dirty="0">
                <a:ln w="0"/>
                <a:solidFill>
                  <a:schemeClr val="bg1"/>
                </a:solidFill>
                <a:effectLst>
                  <a:innerShdw blurRad="63500" dist="50800" dir="13500000">
                    <a:srgbClr val="000000">
                      <a:alpha val="50000"/>
                    </a:srgbClr>
                  </a:innerShdw>
                </a:effectLst>
              </a:rPr>
              <a:t>;</a:t>
            </a:r>
            <a:endParaRPr lang="en-IN" sz="1600" b="1" spc="50" dirty="0">
              <a:ln w="0"/>
              <a:solidFill>
                <a:schemeClr val="bg1"/>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18409771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38245D1-46B6-6EF7-6B8D-8F4745574CE5}"/>
              </a:ext>
            </a:extLst>
          </p:cNvPr>
          <p:cNvSpPr/>
          <p:nvPr/>
        </p:nvSpPr>
        <p:spPr>
          <a:xfrm>
            <a:off x="1533833" y="2111477"/>
            <a:ext cx="4178709" cy="1887794"/>
          </a:xfrm>
          <a:prstGeom prst="roundRect">
            <a:avLst>
              <a:gd name="adj" fmla="val 27605"/>
            </a:avLst>
          </a:prstGeom>
          <a:ln w="28575">
            <a:solidFill>
              <a:schemeClr val="bg1">
                <a:lumMod val="95000"/>
                <a:lumOff val="5000"/>
              </a:schemeClr>
            </a:solidFill>
          </a:ln>
          <a:effectLst>
            <a:outerShdw blurRad="76200" dist="12700" dir="8100000" sy="-23000" kx="800400" algn="br" rotWithShape="0">
              <a:prstClr val="black">
                <a:alpha val="2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4000" dirty="0"/>
              <a:t>VIEW</a:t>
            </a:r>
          </a:p>
        </p:txBody>
      </p:sp>
    </p:spTree>
    <p:extLst>
      <p:ext uri="{BB962C8B-B14F-4D97-AF65-F5344CB8AC3E}">
        <p14:creationId xmlns:p14="http://schemas.microsoft.com/office/powerpoint/2010/main" val="31116771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D842644-F64D-8686-D914-2562B7F6CCB7}"/>
              </a:ext>
            </a:extLst>
          </p:cNvPr>
          <p:cNvSpPr txBox="1">
            <a:spLocks/>
          </p:cNvSpPr>
          <p:nvPr/>
        </p:nvSpPr>
        <p:spPr>
          <a:xfrm>
            <a:off x="496759" y="219099"/>
            <a:ext cx="11056144"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Views</a:t>
            </a:r>
          </a:p>
          <a:p>
            <a:pPr algn="ctr"/>
            <a:endParaRPr lang="en-US" dirty="0"/>
          </a:p>
          <a:p>
            <a:pPr algn="ctr"/>
            <a:endParaRPr lang="en-IN" dirty="0"/>
          </a:p>
        </p:txBody>
      </p:sp>
      <p:sp>
        <p:nvSpPr>
          <p:cNvPr id="5" name="Title 2">
            <a:extLst>
              <a:ext uri="{FF2B5EF4-FFF2-40B4-BE49-F238E27FC236}">
                <a16:creationId xmlns:a16="http://schemas.microsoft.com/office/drawing/2014/main" id="{1A7318FD-66F4-085B-3242-1E7C65B7879E}"/>
              </a:ext>
            </a:extLst>
          </p:cNvPr>
          <p:cNvSpPr txBox="1">
            <a:spLocks/>
          </p:cNvSpPr>
          <p:nvPr/>
        </p:nvSpPr>
        <p:spPr>
          <a:xfrm>
            <a:off x="6646606" y="1320312"/>
            <a:ext cx="4906296" cy="3979275"/>
          </a:xfrm>
          <a:prstGeom prst="rect">
            <a:avLst/>
          </a:prstGeom>
          <a:ln w="28575">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2000" dirty="0">
                <a:solidFill>
                  <a:schemeClr val="bg1"/>
                </a:solidFill>
              </a:rPr>
              <a:t>13.Create a view to display complete booking details of customers.</a:t>
            </a:r>
          </a:p>
          <a:p>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Query:</a:t>
            </a:r>
          </a:p>
          <a:p>
            <a:r>
              <a:rPr lang="en-IN" sz="1600" b="1" spc="50" dirty="0">
                <a:ln w="0"/>
                <a:solidFill>
                  <a:schemeClr val="bg1"/>
                </a:solidFill>
                <a:effectLst>
                  <a:innerShdw blurRad="63500" dist="50800" dir="13500000">
                    <a:srgbClr val="000000">
                      <a:alpha val="50000"/>
                    </a:srgbClr>
                  </a:innerShdw>
                </a:effectLst>
              </a:rPr>
              <a:t>CREATE VIEW </a:t>
            </a:r>
            <a:r>
              <a:rPr lang="en-IN" sz="1600" b="1" spc="50" dirty="0" err="1">
                <a:ln w="0"/>
                <a:solidFill>
                  <a:schemeClr val="bg1"/>
                </a:solidFill>
                <a:effectLst>
                  <a:innerShdw blurRad="63500" dist="50800" dir="13500000">
                    <a:srgbClr val="000000">
                      <a:alpha val="50000"/>
                    </a:srgbClr>
                  </a:innerShdw>
                </a:effectLst>
              </a:rPr>
              <a:t>customer_booking_view</a:t>
            </a:r>
            <a:r>
              <a:rPr lang="en-IN" sz="1600" b="1" spc="50" dirty="0">
                <a:ln w="0"/>
                <a:solidFill>
                  <a:schemeClr val="bg1"/>
                </a:solidFill>
                <a:effectLst>
                  <a:innerShdw blurRad="63500" dist="50800" dir="13500000">
                    <a:srgbClr val="000000">
                      <a:alpha val="50000"/>
                    </a:srgbClr>
                  </a:innerShdw>
                </a:effectLst>
              </a:rPr>
              <a:t> AS</a:t>
            </a:r>
          </a:p>
          <a:p>
            <a:r>
              <a:rPr lang="en-IN" sz="1600" b="1" spc="50" dirty="0">
                <a:ln w="0"/>
                <a:solidFill>
                  <a:schemeClr val="bg1"/>
                </a:solidFill>
                <a:effectLst>
                  <a:innerShdw blurRad="63500" dist="50800" dir="13500000">
                    <a:srgbClr val="000000">
                      <a:alpha val="50000"/>
                    </a:srgbClr>
                  </a:innerShdw>
                </a:effectLst>
              </a:rPr>
              <a:t>SELECT</a:t>
            </a:r>
          </a:p>
          <a:p>
            <a:r>
              <a:rPr lang="en-IN" sz="1600" b="1" spc="50" dirty="0" err="1">
                <a:ln w="0"/>
                <a:solidFill>
                  <a:schemeClr val="bg1"/>
                </a:solidFill>
                <a:effectLst>
                  <a:innerShdw blurRad="63500" dist="50800" dir="13500000">
                    <a:srgbClr val="000000">
                      <a:alpha val="50000"/>
                    </a:srgbClr>
                  </a:innerShdw>
                </a:effectLst>
              </a:rPr>
              <a:t>b.booking_id,c.first_name</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c.last_name</a:t>
            </a:r>
            <a:r>
              <a:rPr lang="en-IN" sz="1600" b="1" spc="50" dirty="0">
                <a:ln w="0"/>
                <a:solidFill>
                  <a:schemeClr val="bg1"/>
                </a:solidFill>
                <a:effectLst>
                  <a:innerShdw blurRad="63500" dist="50800" dir="13500000">
                    <a:srgbClr val="000000">
                      <a:alpha val="50000"/>
                    </a:srgbClr>
                  </a:innerShdw>
                </a:effectLst>
              </a:rPr>
              <a:t>,</a:t>
            </a:r>
          </a:p>
          <a:p>
            <a:r>
              <a:rPr lang="en-IN" sz="1600" b="1" spc="50" dirty="0" err="1">
                <a:ln w="0"/>
                <a:solidFill>
                  <a:schemeClr val="bg1"/>
                </a:solidFill>
                <a:effectLst>
                  <a:innerShdw blurRad="63500" dist="50800" dir="13500000">
                    <a:srgbClr val="000000">
                      <a:alpha val="50000"/>
                    </a:srgbClr>
                  </a:innerShdw>
                </a:effectLst>
              </a:rPr>
              <a:t>r.room_no</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r.room_type</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b.check_in_date</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b.check_out_date</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b.total_amount</a:t>
            </a:r>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FROM booking b</a:t>
            </a:r>
          </a:p>
          <a:p>
            <a:r>
              <a:rPr lang="en-IN" sz="1600" b="1" spc="50" dirty="0">
                <a:ln w="0"/>
                <a:solidFill>
                  <a:schemeClr val="bg1"/>
                </a:solidFill>
                <a:effectLst>
                  <a:innerShdw blurRad="63500" dist="50800" dir="13500000">
                    <a:srgbClr val="000000">
                      <a:alpha val="50000"/>
                    </a:srgbClr>
                  </a:innerShdw>
                </a:effectLst>
              </a:rPr>
              <a:t>JOIN customer c</a:t>
            </a:r>
          </a:p>
          <a:p>
            <a:r>
              <a:rPr lang="en-IN" sz="1600" b="1" spc="50" dirty="0">
                <a:ln w="0"/>
                <a:solidFill>
                  <a:schemeClr val="bg1"/>
                </a:solidFill>
                <a:effectLst>
                  <a:innerShdw blurRad="63500" dist="50800" dir="13500000">
                    <a:srgbClr val="000000">
                      <a:alpha val="50000"/>
                    </a:srgbClr>
                  </a:innerShdw>
                </a:effectLst>
              </a:rPr>
              <a:t>ON </a:t>
            </a:r>
            <a:r>
              <a:rPr lang="en-IN" sz="1600" b="1" spc="50" dirty="0" err="1">
                <a:ln w="0"/>
                <a:solidFill>
                  <a:schemeClr val="bg1"/>
                </a:solidFill>
                <a:effectLst>
                  <a:innerShdw blurRad="63500" dist="50800" dir="13500000">
                    <a:srgbClr val="000000">
                      <a:alpha val="50000"/>
                    </a:srgbClr>
                  </a:innerShdw>
                </a:effectLst>
              </a:rPr>
              <a:t>b.customer_id</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c.customer_id</a:t>
            </a:r>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JOIN room r</a:t>
            </a:r>
          </a:p>
          <a:p>
            <a:r>
              <a:rPr lang="en-IN" sz="1600" b="1" spc="50" dirty="0">
                <a:ln w="0"/>
                <a:solidFill>
                  <a:schemeClr val="bg1"/>
                </a:solidFill>
                <a:effectLst>
                  <a:innerShdw blurRad="63500" dist="50800" dir="13500000">
                    <a:srgbClr val="000000">
                      <a:alpha val="50000"/>
                    </a:srgbClr>
                  </a:innerShdw>
                </a:effectLst>
              </a:rPr>
              <a:t>ON </a:t>
            </a:r>
            <a:r>
              <a:rPr lang="en-IN" sz="1600" b="1" spc="50" dirty="0" err="1">
                <a:ln w="0"/>
                <a:solidFill>
                  <a:schemeClr val="bg1"/>
                </a:solidFill>
                <a:effectLst>
                  <a:innerShdw blurRad="63500" dist="50800" dir="13500000">
                    <a:srgbClr val="000000">
                      <a:alpha val="50000"/>
                    </a:srgbClr>
                  </a:innerShdw>
                </a:effectLst>
              </a:rPr>
              <a:t>b.room_id</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r.room_id</a:t>
            </a:r>
            <a:r>
              <a:rPr lang="en-IN" sz="1600" b="1" spc="50" dirty="0">
                <a:ln w="0"/>
                <a:solidFill>
                  <a:schemeClr val="bg1"/>
                </a:solidFill>
                <a:effectLst>
                  <a:innerShdw blurRad="63500" dist="50800" dir="13500000">
                    <a:srgbClr val="000000">
                      <a:alpha val="50000"/>
                    </a:srgbClr>
                  </a:innerShdw>
                </a:effectLst>
              </a:rPr>
              <a:t>;</a:t>
            </a:r>
          </a:p>
        </p:txBody>
      </p:sp>
      <p:pic>
        <p:nvPicPr>
          <p:cNvPr id="7" name="Picture 6">
            <a:extLst>
              <a:ext uri="{FF2B5EF4-FFF2-40B4-BE49-F238E27FC236}">
                <a16:creationId xmlns:a16="http://schemas.microsoft.com/office/drawing/2014/main" id="{AB8868C2-49EA-B2D5-5DFA-6E53E63A16B6}"/>
              </a:ext>
            </a:extLst>
          </p:cNvPr>
          <p:cNvPicPr>
            <a:picLocks noChangeAspect="1"/>
          </p:cNvPicPr>
          <p:nvPr/>
        </p:nvPicPr>
        <p:blipFill>
          <a:blip r:embed="rId2"/>
          <a:stretch>
            <a:fillRect/>
          </a:stretch>
        </p:blipFill>
        <p:spPr>
          <a:xfrm>
            <a:off x="496758" y="1320311"/>
            <a:ext cx="6066046" cy="3979275"/>
          </a:xfrm>
          <a:prstGeom prst="rect">
            <a:avLst/>
          </a:prstGeom>
        </p:spPr>
      </p:pic>
    </p:spTree>
    <p:extLst>
      <p:ext uri="{BB962C8B-B14F-4D97-AF65-F5344CB8AC3E}">
        <p14:creationId xmlns:p14="http://schemas.microsoft.com/office/powerpoint/2010/main" val="2965890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D39B50-FDD3-528F-2A51-014E3C5A6B33}"/>
              </a:ext>
            </a:extLst>
          </p:cNvPr>
          <p:cNvSpPr txBox="1">
            <a:spLocks/>
          </p:cNvSpPr>
          <p:nvPr/>
        </p:nvSpPr>
        <p:spPr>
          <a:xfrm>
            <a:off x="496759" y="219099"/>
            <a:ext cx="11056144"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Views</a:t>
            </a:r>
          </a:p>
          <a:p>
            <a:pPr algn="ctr"/>
            <a:endParaRPr lang="en-US" dirty="0"/>
          </a:p>
          <a:p>
            <a:pPr algn="ctr"/>
            <a:endParaRPr lang="en-IN" dirty="0"/>
          </a:p>
        </p:txBody>
      </p:sp>
      <p:sp>
        <p:nvSpPr>
          <p:cNvPr id="5" name="Title 2">
            <a:extLst>
              <a:ext uri="{FF2B5EF4-FFF2-40B4-BE49-F238E27FC236}">
                <a16:creationId xmlns:a16="http://schemas.microsoft.com/office/drawing/2014/main" id="{52D5315B-A514-C9C8-81F8-1347CA62AEAF}"/>
              </a:ext>
            </a:extLst>
          </p:cNvPr>
          <p:cNvSpPr txBox="1">
            <a:spLocks/>
          </p:cNvSpPr>
          <p:nvPr/>
        </p:nvSpPr>
        <p:spPr>
          <a:xfrm>
            <a:off x="6646606" y="1320312"/>
            <a:ext cx="4906296" cy="3979275"/>
          </a:xfrm>
          <a:prstGeom prst="rect">
            <a:avLst/>
          </a:prstGeom>
          <a:ln w="28575">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2000" dirty="0">
                <a:solidFill>
                  <a:schemeClr val="bg1"/>
                </a:solidFill>
              </a:rPr>
              <a:t>14.Create a view to display complete booking details of customers.</a:t>
            </a:r>
          </a:p>
          <a:p>
            <a:endParaRPr lang="en-IN" sz="16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Query:</a:t>
            </a:r>
          </a:p>
          <a:p>
            <a:r>
              <a:rPr lang="en-IN" sz="1600" b="1" spc="50" dirty="0">
                <a:ln w="0"/>
                <a:solidFill>
                  <a:schemeClr val="bg1"/>
                </a:solidFill>
                <a:effectLst>
                  <a:innerShdw blurRad="63500" dist="50800" dir="13500000">
                    <a:srgbClr val="000000">
                      <a:alpha val="50000"/>
                    </a:srgbClr>
                  </a:innerShdw>
                </a:effectLst>
              </a:rPr>
              <a:t>CREATE VIEW </a:t>
            </a:r>
            <a:r>
              <a:rPr lang="en-IN" sz="1600" b="1" spc="50" dirty="0" err="1">
                <a:ln w="0"/>
                <a:solidFill>
                  <a:schemeClr val="bg1"/>
                </a:solidFill>
                <a:effectLst>
                  <a:innerShdw blurRad="63500" dist="50800" dir="13500000">
                    <a:srgbClr val="000000">
                      <a:alpha val="50000"/>
                    </a:srgbClr>
                  </a:innerShdw>
                </a:effectLst>
              </a:rPr>
              <a:t>hotel_transaction_detail</a:t>
            </a:r>
            <a:r>
              <a:rPr lang="en-IN" sz="1600" b="1" spc="50" dirty="0">
                <a:ln w="0"/>
                <a:solidFill>
                  <a:schemeClr val="bg1"/>
                </a:solidFill>
                <a:effectLst>
                  <a:innerShdw blurRad="63500" dist="50800" dir="13500000">
                    <a:srgbClr val="000000">
                      <a:alpha val="50000"/>
                    </a:srgbClr>
                  </a:innerShdw>
                </a:effectLst>
              </a:rPr>
              <a:t> AS SELECT    </a:t>
            </a:r>
            <a:r>
              <a:rPr lang="en-IN" sz="1600" b="1" spc="50" dirty="0" err="1">
                <a:ln w="0"/>
                <a:solidFill>
                  <a:schemeClr val="bg1"/>
                </a:solidFill>
                <a:effectLst>
                  <a:innerShdw blurRad="63500" dist="50800" dir="13500000">
                    <a:srgbClr val="000000">
                      <a:alpha val="50000"/>
                    </a:srgbClr>
                  </a:innerShdw>
                </a:effectLst>
              </a:rPr>
              <a:t>b.booking_id</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c.first_name</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c.last_name</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r.room_no</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p.amount</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p.payment_method</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rv.ratingFROM</a:t>
            </a:r>
            <a:r>
              <a:rPr lang="en-IN" sz="1600" b="1" spc="50" dirty="0">
                <a:ln w="0"/>
                <a:solidFill>
                  <a:schemeClr val="bg1"/>
                </a:solidFill>
                <a:effectLst>
                  <a:innerShdw blurRad="63500" dist="50800" dir="13500000">
                    <a:srgbClr val="000000">
                      <a:alpha val="50000"/>
                    </a:srgbClr>
                  </a:innerShdw>
                </a:effectLst>
              </a:rPr>
              <a:t> booking </a:t>
            </a:r>
            <a:r>
              <a:rPr lang="en-IN" sz="1600" b="1" spc="50" dirty="0" err="1">
                <a:ln w="0"/>
                <a:solidFill>
                  <a:schemeClr val="bg1"/>
                </a:solidFill>
                <a:effectLst>
                  <a:innerShdw blurRad="63500" dist="50800" dir="13500000">
                    <a:srgbClr val="000000">
                      <a:alpha val="50000"/>
                    </a:srgbClr>
                  </a:innerShdw>
                </a:effectLst>
              </a:rPr>
              <a:t>bJOIN</a:t>
            </a:r>
            <a:r>
              <a:rPr lang="en-IN" sz="1600" b="1" spc="50" dirty="0">
                <a:ln w="0"/>
                <a:solidFill>
                  <a:schemeClr val="bg1"/>
                </a:solidFill>
                <a:effectLst>
                  <a:innerShdw blurRad="63500" dist="50800" dir="13500000">
                    <a:srgbClr val="000000">
                      <a:alpha val="50000"/>
                    </a:srgbClr>
                  </a:innerShdw>
                </a:effectLst>
              </a:rPr>
              <a:t> customer </a:t>
            </a:r>
            <a:r>
              <a:rPr lang="en-IN" sz="1600" b="1" spc="50" dirty="0" err="1">
                <a:ln w="0"/>
                <a:solidFill>
                  <a:schemeClr val="bg1"/>
                </a:solidFill>
                <a:effectLst>
                  <a:innerShdw blurRad="63500" dist="50800" dir="13500000">
                    <a:srgbClr val="000000">
                      <a:alpha val="50000"/>
                    </a:srgbClr>
                  </a:innerShdw>
                </a:effectLst>
              </a:rPr>
              <a:t>cON</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b.customer_id</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c.customer_idJOIN</a:t>
            </a:r>
            <a:r>
              <a:rPr lang="en-IN" sz="1600" b="1" spc="50" dirty="0">
                <a:ln w="0"/>
                <a:solidFill>
                  <a:schemeClr val="bg1"/>
                </a:solidFill>
                <a:effectLst>
                  <a:innerShdw blurRad="63500" dist="50800" dir="13500000">
                    <a:srgbClr val="000000">
                      <a:alpha val="50000"/>
                    </a:srgbClr>
                  </a:innerShdw>
                </a:effectLst>
              </a:rPr>
              <a:t> room </a:t>
            </a:r>
            <a:r>
              <a:rPr lang="en-IN" sz="1600" b="1" spc="50" dirty="0" err="1">
                <a:ln w="0"/>
                <a:solidFill>
                  <a:schemeClr val="bg1"/>
                </a:solidFill>
                <a:effectLst>
                  <a:innerShdw blurRad="63500" dist="50800" dir="13500000">
                    <a:srgbClr val="000000">
                      <a:alpha val="50000"/>
                    </a:srgbClr>
                  </a:innerShdw>
                </a:effectLst>
              </a:rPr>
              <a:t>rON</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b.room_id</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r.room_idJOIN</a:t>
            </a:r>
            <a:r>
              <a:rPr lang="en-IN" sz="1600" b="1" spc="50" dirty="0">
                <a:ln w="0"/>
                <a:solidFill>
                  <a:schemeClr val="bg1"/>
                </a:solidFill>
                <a:effectLst>
                  <a:innerShdw blurRad="63500" dist="50800" dir="13500000">
                    <a:srgbClr val="000000">
                      <a:alpha val="50000"/>
                    </a:srgbClr>
                  </a:innerShdw>
                </a:effectLst>
              </a:rPr>
              <a:t> payment </a:t>
            </a:r>
            <a:r>
              <a:rPr lang="en-IN" sz="1600" b="1" spc="50" dirty="0" err="1">
                <a:ln w="0"/>
                <a:solidFill>
                  <a:schemeClr val="bg1"/>
                </a:solidFill>
                <a:effectLst>
                  <a:innerShdw blurRad="63500" dist="50800" dir="13500000">
                    <a:srgbClr val="000000">
                      <a:alpha val="50000"/>
                    </a:srgbClr>
                  </a:innerShdw>
                </a:effectLst>
              </a:rPr>
              <a:t>pON</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b.booking_id</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p.booking_idLEFT</a:t>
            </a:r>
            <a:r>
              <a:rPr lang="en-IN" sz="1600" b="1" spc="50" dirty="0">
                <a:ln w="0"/>
                <a:solidFill>
                  <a:schemeClr val="bg1"/>
                </a:solidFill>
                <a:effectLst>
                  <a:innerShdw blurRad="63500" dist="50800" dir="13500000">
                    <a:srgbClr val="000000">
                      <a:alpha val="50000"/>
                    </a:srgbClr>
                  </a:innerShdw>
                </a:effectLst>
              </a:rPr>
              <a:t> JOIN review </a:t>
            </a:r>
            <a:r>
              <a:rPr lang="en-IN" sz="1600" b="1" spc="50" dirty="0" err="1">
                <a:ln w="0"/>
                <a:solidFill>
                  <a:schemeClr val="bg1"/>
                </a:solidFill>
                <a:effectLst>
                  <a:innerShdw blurRad="63500" dist="50800" dir="13500000">
                    <a:srgbClr val="000000">
                      <a:alpha val="50000"/>
                    </a:srgbClr>
                  </a:innerShdw>
                </a:effectLst>
              </a:rPr>
              <a:t>rvON</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b.booking_id</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rv.booking_id</a:t>
            </a:r>
            <a:r>
              <a:rPr lang="en-IN" sz="1600" b="1" spc="50" dirty="0">
                <a:ln w="0"/>
                <a:solidFill>
                  <a:schemeClr val="bg1"/>
                </a:solidFill>
                <a:effectLst>
                  <a:innerShdw blurRad="63500" dist="50800" dir="13500000">
                    <a:srgbClr val="000000">
                      <a:alpha val="50000"/>
                    </a:srgbClr>
                  </a:innerShdw>
                </a:effectLst>
              </a:rPr>
              <a:t>;</a:t>
            </a:r>
          </a:p>
        </p:txBody>
      </p:sp>
      <p:pic>
        <p:nvPicPr>
          <p:cNvPr id="7" name="Picture 6">
            <a:extLst>
              <a:ext uri="{FF2B5EF4-FFF2-40B4-BE49-F238E27FC236}">
                <a16:creationId xmlns:a16="http://schemas.microsoft.com/office/drawing/2014/main" id="{3D3537CC-A7EB-4AC6-16CA-E98A17E7C330}"/>
              </a:ext>
            </a:extLst>
          </p:cNvPr>
          <p:cNvPicPr>
            <a:picLocks noChangeAspect="1"/>
          </p:cNvPicPr>
          <p:nvPr/>
        </p:nvPicPr>
        <p:blipFill>
          <a:blip r:embed="rId2"/>
          <a:stretch>
            <a:fillRect/>
          </a:stretch>
        </p:blipFill>
        <p:spPr>
          <a:xfrm>
            <a:off x="496759" y="1320312"/>
            <a:ext cx="6092346" cy="3979274"/>
          </a:xfrm>
          <a:prstGeom prst="rect">
            <a:avLst/>
          </a:prstGeom>
        </p:spPr>
      </p:pic>
    </p:spTree>
    <p:extLst>
      <p:ext uri="{BB962C8B-B14F-4D97-AF65-F5344CB8AC3E}">
        <p14:creationId xmlns:p14="http://schemas.microsoft.com/office/powerpoint/2010/main" val="24831636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0155D0-6574-4586-1A62-568BDD7B2663}"/>
              </a:ext>
            </a:extLst>
          </p:cNvPr>
          <p:cNvSpPr txBox="1">
            <a:spLocks/>
          </p:cNvSpPr>
          <p:nvPr/>
        </p:nvSpPr>
        <p:spPr>
          <a:xfrm>
            <a:off x="496759" y="219099"/>
            <a:ext cx="11056144" cy="1012722"/>
          </a:xfrm>
          <a:prstGeom prst="rect">
            <a:avLst/>
          </a:prstGeom>
          <a:ln w="28575">
            <a:solidFill>
              <a:schemeClr val="bg1">
                <a:lumMod val="95000"/>
                <a:lumOff val="5000"/>
              </a:schemeClr>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US" dirty="0"/>
              <a:t>Views</a:t>
            </a:r>
          </a:p>
          <a:p>
            <a:pPr algn="ctr"/>
            <a:endParaRPr lang="en-US" dirty="0"/>
          </a:p>
          <a:p>
            <a:pPr algn="ctr"/>
            <a:endParaRPr lang="en-IN" dirty="0"/>
          </a:p>
        </p:txBody>
      </p:sp>
      <p:sp>
        <p:nvSpPr>
          <p:cNvPr id="5" name="Title 2">
            <a:extLst>
              <a:ext uri="{FF2B5EF4-FFF2-40B4-BE49-F238E27FC236}">
                <a16:creationId xmlns:a16="http://schemas.microsoft.com/office/drawing/2014/main" id="{E469BCE5-2CAC-5EFC-CDE7-663E554FBD8E}"/>
              </a:ext>
            </a:extLst>
          </p:cNvPr>
          <p:cNvSpPr txBox="1">
            <a:spLocks/>
          </p:cNvSpPr>
          <p:nvPr/>
        </p:nvSpPr>
        <p:spPr>
          <a:xfrm>
            <a:off x="6646606" y="1320312"/>
            <a:ext cx="4906296" cy="3979275"/>
          </a:xfrm>
          <a:prstGeom prst="rect">
            <a:avLst/>
          </a:prstGeom>
          <a:ln w="28575">
            <a:solidFill>
              <a:schemeClr val="bg1"/>
            </a:solidFill>
          </a:ln>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t">
            <a:normAutofit/>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IN" sz="2000" dirty="0">
                <a:solidFill>
                  <a:schemeClr val="bg1"/>
                </a:solidFill>
              </a:rPr>
              <a:t>15.Create a view to display customer feedback details.</a:t>
            </a:r>
          </a:p>
          <a:p>
            <a:endParaRPr lang="en-IN" sz="2000" b="1" spc="50" dirty="0">
              <a:ln w="0"/>
              <a:solidFill>
                <a:schemeClr val="bg1"/>
              </a:solidFill>
              <a:effectLst>
                <a:innerShdw blurRad="63500" dist="50800" dir="13500000">
                  <a:srgbClr val="000000">
                    <a:alpha val="50000"/>
                  </a:srgbClr>
                </a:innerShdw>
              </a:effectLst>
            </a:endParaRPr>
          </a:p>
          <a:p>
            <a:r>
              <a:rPr lang="en-IN" sz="1600" b="1" spc="50" dirty="0">
                <a:ln w="0"/>
                <a:solidFill>
                  <a:schemeClr val="bg1"/>
                </a:solidFill>
                <a:effectLst>
                  <a:innerShdw blurRad="63500" dist="50800" dir="13500000">
                    <a:srgbClr val="000000">
                      <a:alpha val="50000"/>
                    </a:srgbClr>
                  </a:innerShdw>
                </a:effectLst>
              </a:rPr>
              <a:t>Query:</a:t>
            </a:r>
          </a:p>
          <a:p>
            <a:r>
              <a:rPr lang="en-IN" sz="1600" b="1" spc="50" dirty="0">
                <a:ln w="0"/>
                <a:solidFill>
                  <a:schemeClr val="bg1"/>
                </a:solidFill>
                <a:effectLst>
                  <a:innerShdw blurRad="63500" dist="50800" dir="13500000">
                    <a:srgbClr val="000000">
                      <a:alpha val="50000"/>
                    </a:srgbClr>
                  </a:innerShdw>
                </a:effectLst>
              </a:rPr>
              <a:t>CREATE VIEW </a:t>
            </a:r>
            <a:r>
              <a:rPr lang="en-IN" sz="1600" b="1" spc="50" dirty="0" err="1">
                <a:ln w="0"/>
                <a:solidFill>
                  <a:schemeClr val="bg1"/>
                </a:solidFill>
                <a:effectLst>
                  <a:innerShdw blurRad="63500" dist="50800" dir="13500000">
                    <a:srgbClr val="000000">
                      <a:alpha val="50000"/>
                    </a:srgbClr>
                  </a:innerShdw>
                </a:effectLst>
              </a:rPr>
              <a:t>customer_review</a:t>
            </a:r>
            <a:r>
              <a:rPr lang="en-IN" sz="1600" b="1" spc="50" dirty="0">
                <a:ln w="0"/>
                <a:solidFill>
                  <a:schemeClr val="bg1"/>
                </a:solidFill>
                <a:effectLst>
                  <a:innerShdw blurRad="63500" dist="50800" dir="13500000">
                    <a:srgbClr val="000000">
                      <a:alpha val="50000"/>
                    </a:srgbClr>
                  </a:innerShdw>
                </a:effectLst>
              </a:rPr>
              <a:t> AS</a:t>
            </a:r>
          </a:p>
          <a:p>
            <a:r>
              <a:rPr lang="en-IN" sz="1600" b="1" spc="50" dirty="0">
                <a:ln w="0"/>
                <a:solidFill>
                  <a:schemeClr val="bg1"/>
                </a:solidFill>
                <a:effectLst>
                  <a:innerShdw blurRad="63500" dist="50800" dir="13500000">
                    <a:srgbClr val="000000">
                      <a:alpha val="50000"/>
                    </a:srgbClr>
                  </a:innerShdw>
                </a:effectLst>
              </a:rPr>
              <a:t>SELECT    </a:t>
            </a:r>
            <a:r>
              <a:rPr lang="en-IN" sz="1600" b="1" spc="50" dirty="0" err="1">
                <a:ln w="0"/>
                <a:solidFill>
                  <a:schemeClr val="bg1"/>
                </a:solidFill>
                <a:effectLst>
                  <a:innerShdw blurRad="63500" dist="50800" dir="13500000">
                    <a:srgbClr val="000000">
                      <a:alpha val="50000"/>
                    </a:srgbClr>
                  </a:innerShdw>
                </a:effectLst>
              </a:rPr>
              <a:t>c.first_name</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c.last_name</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rv.rating</a:t>
            </a:r>
            <a:r>
              <a:rPr lang="en-IN" sz="1600" b="1" spc="50" dirty="0">
                <a:ln w="0"/>
                <a:solidFill>
                  <a:schemeClr val="bg1"/>
                </a:solidFill>
                <a:effectLst>
                  <a:innerShdw blurRad="63500" dist="50800" dir="13500000">
                    <a:srgbClr val="000000">
                      <a:alpha val="50000"/>
                    </a:srgbClr>
                  </a:innerShdw>
                </a:effectLst>
              </a:rPr>
              <a:t>,    </a:t>
            </a:r>
            <a:r>
              <a:rPr lang="en-IN" sz="1600" b="1" spc="50" dirty="0" err="1">
                <a:ln w="0"/>
                <a:solidFill>
                  <a:schemeClr val="bg1"/>
                </a:solidFill>
                <a:effectLst>
                  <a:innerShdw blurRad="63500" dist="50800" dir="13500000">
                    <a:srgbClr val="000000">
                      <a:alpha val="50000"/>
                    </a:srgbClr>
                  </a:innerShdw>
                </a:effectLst>
              </a:rPr>
              <a:t>rv.commentFROM</a:t>
            </a:r>
            <a:r>
              <a:rPr lang="en-IN" sz="1600" b="1" spc="50" dirty="0">
                <a:ln w="0"/>
                <a:solidFill>
                  <a:schemeClr val="bg1"/>
                </a:solidFill>
                <a:effectLst>
                  <a:innerShdw blurRad="63500" dist="50800" dir="13500000">
                    <a:srgbClr val="000000">
                      <a:alpha val="50000"/>
                    </a:srgbClr>
                  </a:innerShdw>
                </a:effectLst>
              </a:rPr>
              <a:t> customer c </a:t>
            </a:r>
          </a:p>
          <a:p>
            <a:r>
              <a:rPr lang="en-IN" sz="1600" b="1" spc="50" dirty="0">
                <a:ln w="0"/>
                <a:solidFill>
                  <a:schemeClr val="bg1"/>
                </a:solidFill>
                <a:effectLst>
                  <a:innerShdw blurRad="63500" dist="50800" dir="13500000">
                    <a:srgbClr val="000000">
                      <a:alpha val="50000"/>
                    </a:srgbClr>
                  </a:innerShdw>
                </a:effectLst>
              </a:rPr>
              <a:t>JOIN review </a:t>
            </a:r>
            <a:r>
              <a:rPr lang="en-IN" sz="1600" b="1" spc="50" dirty="0" err="1">
                <a:ln w="0"/>
                <a:solidFill>
                  <a:schemeClr val="bg1"/>
                </a:solidFill>
                <a:effectLst>
                  <a:innerShdw blurRad="63500" dist="50800" dir="13500000">
                    <a:srgbClr val="000000">
                      <a:alpha val="50000"/>
                    </a:srgbClr>
                  </a:innerShdw>
                </a:effectLst>
              </a:rPr>
              <a:t>rv</a:t>
            </a:r>
            <a:r>
              <a:rPr lang="en-IN" sz="1600" b="1" spc="50" dirty="0">
                <a:ln w="0"/>
                <a:solidFill>
                  <a:schemeClr val="bg1"/>
                </a:solidFill>
                <a:effectLst>
                  <a:innerShdw blurRad="63500" dist="50800" dir="13500000">
                    <a:srgbClr val="000000">
                      <a:alpha val="50000"/>
                    </a:srgbClr>
                  </a:innerShdw>
                </a:effectLst>
              </a:rPr>
              <a:t> </a:t>
            </a:r>
          </a:p>
          <a:p>
            <a:r>
              <a:rPr lang="en-IN" sz="1600" b="1" spc="50" dirty="0">
                <a:ln w="0"/>
                <a:solidFill>
                  <a:schemeClr val="bg1"/>
                </a:solidFill>
                <a:effectLst>
                  <a:innerShdw blurRad="63500" dist="50800" dir="13500000">
                    <a:srgbClr val="000000">
                      <a:alpha val="50000"/>
                    </a:srgbClr>
                  </a:innerShdw>
                </a:effectLst>
              </a:rPr>
              <a:t>ON </a:t>
            </a:r>
            <a:r>
              <a:rPr lang="en-IN" sz="1600" b="1" spc="50" dirty="0" err="1">
                <a:ln w="0"/>
                <a:solidFill>
                  <a:schemeClr val="bg1"/>
                </a:solidFill>
                <a:effectLst>
                  <a:innerShdw blurRad="63500" dist="50800" dir="13500000">
                    <a:srgbClr val="000000">
                      <a:alpha val="50000"/>
                    </a:srgbClr>
                  </a:innerShdw>
                </a:effectLst>
              </a:rPr>
              <a:t>c.customer_id</a:t>
            </a:r>
            <a:r>
              <a:rPr lang="en-IN" sz="1600" b="1" spc="50" dirty="0">
                <a:ln w="0"/>
                <a:solidFill>
                  <a:schemeClr val="bg1"/>
                </a:solidFill>
                <a:effectLst>
                  <a:innerShdw blurRad="63500" dist="50800" dir="13500000">
                    <a:srgbClr val="000000">
                      <a:alpha val="50000"/>
                    </a:srgbClr>
                  </a:innerShdw>
                </a:effectLst>
              </a:rPr>
              <a:t> = </a:t>
            </a:r>
            <a:r>
              <a:rPr lang="en-IN" sz="1600" b="1" spc="50" dirty="0" err="1">
                <a:ln w="0"/>
                <a:solidFill>
                  <a:schemeClr val="bg1"/>
                </a:solidFill>
                <a:effectLst>
                  <a:innerShdw blurRad="63500" dist="50800" dir="13500000">
                    <a:srgbClr val="000000">
                      <a:alpha val="50000"/>
                    </a:srgbClr>
                  </a:innerShdw>
                </a:effectLst>
              </a:rPr>
              <a:t>rv.customer_id</a:t>
            </a:r>
            <a:r>
              <a:rPr lang="en-IN" sz="1600" b="1" spc="50" dirty="0">
                <a:ln w="0"/>
                <a:solidFill>
                  <a:schemeClr val="bg1"/>
                </a:solidFill>
                <a:effectLst>
                  <a:innerShdw blurRad="63500" dist="50800" dir="13500000">
                    <a:srgbClr val="000000">
                      <a:alpha val="50000"/>
                    </a:srgbClr>
                  </a:innerShdw>
                </a:effectLst>
              </a:rPr>
              <a:t>;</a:t>
            </a:r>
          </a:p>
        </p:txBody>
      </p:sp>
      <p:pic>
        <p:nvPicPr>
          <p:cNvPr id="7" name="Picture 6">
            <a:extLst>
              <a:ext uri="{FF2B5EF4-FFF2-40B4-BE49-F238E27FC236}">
                <a16:creationId xmlns:a16="http://schemas.microsoft.com/office/drawing/2014/main" id="{D67D56C6-6923-ACD8-EE52-F515737D194C}"/>
              </a:ext>
            </a:extLst>
          </p:cNvPr>
          <p:cNvPicPr>
            <a:picLocks noChangeAspect="1"/>
          </p:cNvPicPr>
          <p:nvPr/>
        </p:nvPicPr>
        <p:blipFill>
          <a:blip r:embed="rId2"/>
          <a:stretch>
            <a:fillRect/>
          </a:stretch>
        </p:blipFill>
        <p:spPr>
          <a:xfrm>
            <a:off x="496758" y="1320311"/>
            <a:ext cx="6071189" cy="3979276"/>
          </a:xfrm>
          <a:prstGeom prst="rect">
            <a:avLst/>
          </a:prstGeom>
        </p:spPr>
      </p:pic>
    </p:spTree>
    <p:extLst>
      <p:ext uri="{BB962C8B-B14F-4D97-AF65-F5344CB8AC3E}">
        <p14:creationId xmlns:p14="http://schemas.microsoft.com/office/powerpoint/2010/main" val="10500540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FB28BAF-5693-2AD4-B574-2F290C458DDB}"/>
              </a:ext>
            </a:extLst>
          </p:cNvPr>
          <p:cNvSpPr/>
          <p:nvPr/>
        </p:nvSpPr>
        <p:spPr>
          <a:xfrm>
            <a:off x="806245" y="658449"/>
            <a:ext cx="7138218" cy="4316361"/>
          </a:xfrm>
          <a:prstGeom prst="roundRect">
            <a:avLst>
              <a:gd name="adj" fmla="val 10289"/>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19D3381-5202-0656-5636-860F43A317BD}"/>
              </a:ext>
            </a:extLst>
          </p:cNvPr>
          <p:cNvSpPr txBox="1"/>
          <p:nvPr/>
        </p:nvSpPr>
        <p:spPr>
          <a:xfrm>
            <a:off x="1258529" y="943897"/>
            <a:ext cx="3775587" cy="646331"/>
          </a:xfrm>
          <a:prstGeom prst="rect">
            <a:avLst/>
          </a:prstGeom>
          <a:noFill/>
        </p:spPr>
        <p:txBody>
          <a:bodyPr wrap="square" rtlCol="0">
            <a:spAutoFit/>
          </a:bodyPr>
          <a:lstStyle/>
          <a:p>
            <a:r>
              <a:rPr lang="en-US" sz="3600" dirty="0">
                <a:solidFill>
                  <a:schemeClr val="bg1"/>
                </a:solidFill>
              </a:rPr>
              <a:t>Prepared By:</a:t>
            </a:r>
            <a:endParaRPr lang="en-IN" sz="3600" dirty="0">
              <a:solidFill>
                <a:schemeClr val="bg1"/>
              </a:solidFill>
            </a:endParaRPr>
          </a:p>
        </p:txBody>
      </p:sp>
      <p:sp>
        <p:nvSpPr>
          <p:cNvPr id="6" name="TextBox 5">
            <a:extLst>
              <a:ext uri="{FF2B5EF4-FFF2-40B4-BE49-F238E27FC236}">
                <a16:creationId xmlns:a16="http://schemas.microsoft.com/office/drawing/2014/main" id="{48409280-D3CF-C4B5-5AA3-5393472DD7C9}"/>
              </a:ext>
            </a:extLst>
          </p:cNvPr>
          <p:cNvSpPr txBox="1"/>
          <p:nvPr/>
        </p:nvSpPr>
        <p:spPr>
          <a:xfrm>
            <a:off x="1258529" y="1868129"/>
            <a:ext cx="4395019" cy="830997"/>
          </a:xfrm>
          <a:prstGeom prst="rect">
            <a:avLst/>
          </a:prstGeom>
          <a:noFill/>
        </p:spPr>
        <p:txBody>
          <a:bodyPr wrap="square" rtlCol="0">
            <a:spAutoFit/>
          </a:bodyPr>
          <a:lstStyle/>
          <a:p>
            <a:r>
              <a:rPr lang="en-US" sz="2400" i="1" dirty="0">
                <a:solidFill>
                  <a:schemeClr val="bg1"/>
                </a:solidFill>
              </a:rPr>
              <a:t>Ronit Karmakar</a:t>
            </a:r>
          </a:p>
          <a:p>
            <a:endParaRPr lang="en-IN" sz="2400" i="1" dirty="0">
              <a:solidFill>
                <a:schemeClr val="bg1"/>
              </a:solidFill>
            </a:endParaRPr>
          </a:p>
        </p:txBody>
      </p:sp>
      <p:sp>
        <p:nvSpPr>
          <p:cNvPr id="7" name="TextBox 6">
            <a:extLst>
              <a:ext uri="{FF2B5EF4-FFF2-40B4-BE49-F238E27FC236}">
                <a16:creationId xmlns:a16="http://schemas.microsoft.com/office/drawing/2014/main" id="{6A78C032-646D-BF54-36BE-261D495C4B26}"/>
              </a:ext>
            </a:extLst>
          </p:cNvPr>
          <p:cNvSpPr txBox="1"/>
          <p:nvPr/>
        </p:nvSpPr>
        <p:spPr>
          <a:xfrm>
            <a:off x="1258529" y="2308799"/>
            <a:ext cx="4296697" cy="1015663"/>
          </a:xfrm>
          <a:prstGeom prst="rect">
            <a:avLst/>
          </a:prstGeom>
          <a:noFill/>
        </p:spPr>
        <p:txBody>
          <a:bodyPr wrap="square" rtlCol="0">
            <a:spAutoFit/>
          </a:bodyPr>
          <a:lstStyle/>
          <a:p>
            <a:r>
              <a:rPr lang="en-US" sz="2000" i="1" dirty="0">
                <a:solidFill>
                  <a:schemeClr val="bg1"/>
                </a:solidFill>
                <a:latin typeface="+mj-lt"/>
                <a:ea typeface="Calibri" pitchFamily="34" charset="-122"/>
                <a:cs typeface="Times New Roman" panose="02020603050405020304" pitchFamily="18" charset="0"/>
              </a:rPr>
              <a:t>IT-</a:t>
            </a:r>
            <a:r>
              <a:rPr lang="en-US" sz="2000" i="1" dirty="0" err="1">
                <a:solidFill>
                  <a:schemeClr val="bg1"/>
                </a:solidFill>
                <a:latin typeface="+mj-lt"/>
                <a:ea typeface="Calibri" pitchFamily="34" charset="-122"/>
                <a:cs typeface="Times New Roman" panose="02020603050405020304" pitchFamily="18" charset="0"/>
              </a:rPr>
              <a:t>vedant</a:t>
            </a:r>
            <a:r>
              <a:rPr lang="en-US" sz="2000" i="1" dirty="0">
                <a:solidFill>
                  <a:schemeClr val="bg1"/>
                </a:solidFill>
                <a:latin typeface="+mj-lt"/>
                <a:ea typeface="Calibri" pitchFamily="34" charset="-122"/>
                <a:cs typeface="Times New Roman" panose="02020603050405020304" pitchFamily="18" charset="0"/>
              </a:rPr>
              <a:t> — </a:t>
            </a:r>
            <a:r>
              <a:rPr lang="en-IN" sz="2000" i="1" dirty="0">
                <a:solidFill>
                  <a:schemeClr val="bg1"/>
                </a:solidFill>
                <a:latin typeface="+mj-lt"/>
                <a:cs typeface="Times New Roman" panose="02020603050405020304" pitchFamily="18" charset="0"/>
              </a:rPr>
              <a:t>Data Science &amp; Analytics with Artificial Intelligence T380</a:t>
            </a:r>
            <a:endParaRPr lang="en-US" sz="2000" i="1" dirty="0">
              <a:solidFill>
                <a:schemeClr val="bg1"/>
              </a:solidFill>
              <a:latin typeface="+mj-lt"/>
              <a:cs typeface="Times New Roman" panose="02020603050405020304" pitchFamily="18" charset="0"/>
            </a:endParaRPr>
          </a:p>
        </p:txBody>
      </p:sp>
      <p:sp>
        <p:nvSpPr>
          <p:cNvPr id="8" name="TextBox 7">
            <a:extLst>
              <a:ext uri="{FF2B5EF4-FFF2-40B4-BE49-F238E27FC236}">
                <a16:creationId xmlns:a16="http://schemas.microsoft.com/office/drawing/2014/main" id="{789D8CAF-CB61-21EA-8719-A2EB34F246CF}"/>
              </a:ext>
            </a:extLst>
          </p:cNvPr>
          <p:cNvSpPr txBox="1"/>
          <p:nvPr/>
        </p:nvSpPr>
        <p:spPr>
          <a:xfrm>
            <a:off x="1258529" y="3411189"/>
            <a:ext cx="4395019" cy="707886"/>
          </a:xfrm>
          <a:prstGeom prst="rect">
            <a:avLst/>
          </a:prstGeom>
          <a:noFill/>
        </p:spPr>
        <p:txBody>
          <a:bodyPr wrap="square" rtlCol="0">
            <a:spAutoFit/>
          </a:bodyPr>
          <a:lstStyle/>
          <a:p>
            <a:r>
              <a:rPr lang="en-US" sz="2000" i="1" dirty="0">
                <a:solidFill>
                  <a:schemeClr val="bg1"/>
                </a:solidFill>
              </a:rPr>
              <a:t>Hotel Reservation Management System Project</a:t>
            </a:r>
            <a:endParaRPr lang="en-IN" sz="2000" i="1" dirty="0">
              <a:solidFill>
                <a:schemeClr val="bg1"/>
              </a:solidFill>
            </a:endParaRPr>
          </a:p>
        </p:txBody>
      </p:sp>
    </p:spTree>
    <p:extLst>
      <p:ext uri="{BB962C8B-B14F-4D97-AF65-F5344CB8AC3E}">
        <p14:creationId xmlns:p14="http://schemas.microsoft.com/office/powerpoint/2010/main" val="9975826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64BAD8DB-A811-B0D7-AA2D-14396C160637}"/>
              </a:ext>
            </a:extLst>
          </p:cNvPr>
          <p:cNvSpPr/>
          <p:nvPr/>
        </p:nvSpPr>
        <p:spPr>
          <a:xfrm>
            <a:off x="973394" y="1541206"/>
            <a:ext cx="4827638" cy="1887794"/>
          </a:xfrm>
          <a:prstGeom prst="roundRect">
            <a:avLst/>
          </a:prstGeom>
          <a:ln w="28575">
            <a:solidFill>
              <a:schemeClr val="bg1">
                <a:lumMod val="95000"/>
                <a:lumOff val="5000"/>
              </a:schemeClr>
            </a:solidFill>
          </a:ln>
          <a:effectLst>
            <a:outerShdw blurRad="76200" dist="12700" dir="8100000" sy="-23000" kx="800400" algn="br" rotWithShape="0">
              <a:prstClr val="black">
                <a:alpha val="2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r>
              <a:rPr lang="en-IN" sz="4000" dirty="0"/>
              <a:t>Thank You</a:t>
            </a:r>
          </a:p>
        </p:txBody>
      </p:sp>
    </p:spTree>
    <p:extLst>
      <p:ext uri="{BB962C8B-B14F-4D97-AF65-F5344CB8AC3E}">
        <p14:creationId xmlns:p14="http://schemas.microsoft.com/office/powerpoint/2010/main" val="2092234572"/>
      </p:ext>
    </p:extLst>
  </p:cSld>
  <p:clrMapOvr>
    <a:masterClrMapping/>
  </p:clrMapOvr>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Film Burn</Template>
  <TotalTime>652</TotalTime>
  <Words>1625</Words>
  <Application>Microsoft Office PowerPoint</Application>
  <PresentationFormat>Widescreen</PresentationFormat>
  <Paragraphs>186</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Aptos</vt:lpstr>
      <vt:lpstr>Arial</vt:lpstr>
      <vt:lpstr>Wingdings 3</vt:lpstr>
      <vt:lpstr>Facet</vt:lpstr>
      <vt:lpstr>PowerPoint Presentation</vt:lpstr>
      <vt:lpstr>PowerPoint Presentation</vt:lpstr>
      <vt:lpstr>ER DIAGRAM</vt:lpstr>
      <vt:lpstr>Structure of Customer 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Ronit karmakar</dc:creator>
  <cp:lastModifiedBy>Ronit karmakar</cp:lastModifiedBy>
  <cp:revision>2</cp:revision>
  <dcterms:created xsi:type="dcterms:W3CDTF">2026-08-01T13:14:31Z</dcterms:created>
  <dcterms:modified xsi:type="dcterms:W3CDTF">2026-09-07T06:33:46Z</dcterms:modified>
</cp:coreProperties>
</file>